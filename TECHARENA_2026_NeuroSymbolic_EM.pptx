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2" r:id="rId2"/>
    <p:sldId id="260" r:id="rId3"/>
    <p:sldId id="256" r:id="rId4"/>
    <p:sldId id="257" r:id="rId5"/>
    <p:sldId id="258" r:id="rId6"/>
    <p:sldId id="259" r:id="rId7"/>
    <p:sldId id="261" r:id="rId8"/>
    <p:sldId id="266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99" autoAdjust="0"/>
  </p:normalViewPr>
  <p:slideViewPr>
    <p:cSldViewPr snapToGrid="0">
      <p:cViewPr varScale="1">
        <p:scale>
          <a:sx n="79" d="100"/>
          <a:sy n="79" d="100"/>
        </p:scale>
        <p:origin x="8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Proponiamo un workflow neuro-simbolico per progettare un filtro RF microstrip con prestazioni robuste alle tolleranze produttive. La rete approssima la risposta EM, le regole esplicite governano le geometrie ammissibili e il solver full-wave verifica i finalisti. Il progetto è una proposta di ricerca: non sono disponibili risultati sperimentali.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affrontato</a:t>
            </a:r>
            <a:r>
              <a:rPr dirty="0"/>
              <a:t> è il </a:t>
            </a:r>
            <a:r>
              <a:rPr dirty="0" err="1"/>
              <a:t>costo</a:t>
            </a:r>
            <a:r>
              <a:rPr dirty="0"/>
              <a:t> di </a:t>
            </a:r>
            <a:r>
              <a:rPr dirty="0" err="1"/>
              <a:t>costruire</a:t>
            </a:r>
            <a:r>
              <a:rPr dirty="0"/>
              <a:t> un surrogate </a:t>
            </a:r>
            <a:r>
              <a:rPr dirty="0" err="1"/>
              <a:t>sufficientemente</a:t>
            </a:r>
            <a:r>
              <a:rPr dirty="0"/>
              <a:t> </a:t>
            </a:r>
            <a:r>
              <a:rPr dirty="0" err="1"/>
              <a:t>accurato</a:t>
            </a:r>
            <a:r>
              <a:rPr dirty="0"/>
              <a:t> per </a:t>
            </a:r>
            <a:r>
              <a:rPr dirty="0" err="1"/>
              <a:t>classificare</a:t>
            </a:r>
            <a:r>
              <a:rPr dirty="0"/>
              <a:t> le </a:t>
            </a:r>
            <a:r>
              <a:rPr dirty="0" err="1"/>
              <a:t>varianti</a:t>
            </a:r>
            <a:r>
              <a:rPr dirty="0"/>
              <a:t> </a:t>
            </a:r>
            <a:r>
              <a:rPr dirty="0" err="1"/>
              <a:t>produttive</a:t>
            </a:r>
            <a:r>
              <a:rPr dirty="0"/>
              <a:t> rispetto a </a:t>
            </a:r>
            <a:r>
              <a:rPr dirty="0" err="1"/>
              <a:t>specifiche</a:t>
            </a:r>
            <a:r>
              <a:rPr lang="it-IT" dirty="0"/>
              <a:t>, </a:t>
            </a:r>
            <a:r>
              <a:rPr dirty="0"/>
              <a:t>documenta </a:t>
            </a:r>
            <a:r>
              <a:rPr dirty="0" err="1"/>
              <a:t>difficoltà</a:t>
            </a:r>
            <a:r>
              <a:rPr dirty="0"/>
              <a:t> legate a </a:t>
            </a:r>
            <a:r>
              <a:rPr dirty="0" err="1"/>
              <a:t>dimensionalità</a:t>
            </a:r>
            <a:r>
              <a:rPr dirty="0"/>
              <a:t>, non </a:t>
            </a:r>
            <a:r>
              <a:rPr dirty="0" err="1"/>
              <a:t>linearità</a:t>
            </a:r>
            <a:r>
              <a:rPr dirty="0"/>
              <a:t> e </a:t>
            </a:r>
            <a:r>
              <a:rPr dirty="0" err="1"/>
              <a:t>ampie</a:t>
            </a:r>
            <a:r>
              <a:rPr dirty="0"/>
              <a:t> </a:t>
            </a:r>
            <a:r>
              <a:rPr dirty="0" err="1"/>
              <a:t>variazioni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parametri</a:t>
            </a:r>
            <a:r>
              <a:rPr dirty="0"/>
              <a:t>. La </a:t>
            </a:r>
            <a:r>
              <a:rPr dirty="0" err="1"/>
              <a:t>decisione</a:t>
            </a:r>
            <a:r>
              <a:rPr dirty="0"/>
              <a:t> pass/fail </a:t>
            </a:r>
            <a:r>
              <a:rPr dirty="0" err="1"/>
              <a:t>vicino</a:t>
            </a:r>
            <a:r>
              <a:rPr dirty="0"/>
              <a:t> alle </a:t>
            </a:r>
            <a:r>
              <a:rPr dirty="0" err="1"/>
              <a:t>soglie</a:t>
            </a:r>
            <a:r>
              <a:rPr dirty="0"/>
              <a:t> </a:t>
            </a:r>
            <a:r>
              <a:rPr dirty="0" err="1"/>
              <a:t>richiede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distinta</a:t>
            </a:r>
            <a:r>
              <a:rPr dirty="0"/>
              <a:t> </a:t>
            </a:r>
            <a:r>
              <a:rPr dirty="0" err="1"/>
              <a:t>dall’errore</a:t>
            </a:r>
            <a:r>
              <a:rPr dirty="0"/>
              <a:t> medio. Il </a:t>
            </a:r>
            <a:r>
              <a:rPr dirty="0" err="1"/>
              <a:t>dimostratore</a:t>
            </a:r>
            <a:r>
              <a:rPr dirty="0"/>
              <a:t> </a:t>
            </a:r>
            <a:r>
              <a:rPr dirty="0" err="1"/>
              <a:t>proposto</a:t>
            </a:r>
            <a:r>
              <a:rPr dirty="0"/>
              <a:t> è un </a:t>
            </a:r>
            <a:r>
              <a:rPr dirty="0" err="1"/>
              <a:t>filtro</a:t>
            </a:r>
            <a:r>
              <a:rPr dirty="0"/>
              <a:t> microstrip a </a:t>
            </a:r>
            <a:r>
              <a:rPr dirty="0" err="1"/>
              <a:t>tre</a:t>
            </a:r>
            <a:r>
              <a:rPr dirty="0"/>
              <a:t> </a:t>
            </a:r>
            <a:r>
              <a:rPr dirty="0" err="1"/>
              <a:t>risonatori</a:t>
            </a:r>
            <a:r>
              <a:rPr dirty="0"/>
              <a:t> con </a:t>
            </a:r>
            <a:r>
              <a:rPr dirty="0" err="1"/>
              <a:t>topologia</a:t>
            </a:r>
            <a:r>
              <a:rPr dirty="0"/>
              <a:t> </a:t>
            </a:r>
            <a:r>
              <a:rPr dirty="0" err="1"/>
              <a:t>fissa</a:t>
            </a:r>
            <a:r>
              <a:rPr dirty="0"/>
              <a:t>: </a:t>
            </a:r>
            <a:r>
              <a:rPr dirty="0" err="1"/>
              <a:t>tre</a:t>
            </a:r>
            <a:r>
              <a:rPr dirty="0"/>
              <a:t> </a:t>
            </a:r>
            <a:r>
              <a:rPr dirty="0" err="1"/>
              <a:t>lunghezze</a:t>
            </a:r>
            <a:r>
              <a:rPr dirty="0"/>
              <a:t>, </a:t>
            </a:r>
            <a:r>
              <a:rPr dirty="0" err="1"/>
              <a:t>larghezza</a:t>
            </a:r>
            <a:r>
              <a:rPr dirty="0"/>
              <a:t> </a:t>
            </a:r>
            <a:r>
              <a:rPr dirty="0" err="1"/>
              <a:t>comune</a:t>
            </a:r>
            <a:r>
              <a:rPr dirty="0"/>
              <a:t> delle </a:t>
            </a:r>
            <a:r>
              <a:rPr dirty="0" err="1"/>
              <a:t>piste</a:t>
            </a:r>
            <a:r>
              <a:rPr dirty="0"/>
              <a:t> e due gap </a:t>
            </a:r>
            <a:r>
              <a:rPr dirty="0" err="1"/>
              <a:t>interrisonatore</a:t>
            </a:r>
            <a:r>
              <a:rPr dirty="0"/>
              <a:t>. </a:t>
            </a:r>
            <a:r>
              <a:rPr dirty="0" err="1"/>
              <a:t>Spessore</a:t>
            </a:r>
            <a:r>
              <a:rPr dirty="0"/>
              <a:t> del </a:t>
            </a:r>
            <a:r>
              <a:rPr dirty="0" err="1"/>
              <a:t>substrato</a:t>
            </a:r>
            <a:r>
              <a:rPr dirty="0"/>
              <a:t> e </a:t>
            </a:r>
            <a:r>
              <a:rPr dirty="0" err="1"/>
              <a:t>permittività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ulteriori</a:t>
            </a:r>
            <a:r>
              <a:rPr dirty="0"/>
              <a:t> </a:t>
            </a:r>
            <a:r>
              <a:rPr dirty="0" err="1"/>
              <a:t>parametri</a:t>
            </a:r>
            <a:r>
              <a:rPr lang="it-IT" dirty="0"/>
              <a:t> da decidere/ricavare</a:t>
            </a:r>
            <a:r>
              <a:rPr dirty="0"/>
              <a:t>. La </a:t>
            </a:r>
            <a:r>
              <a:rPr dirty="0" err="1"/>
              <a:t>scelta</a:t>
            </a:r>
            <a:r>
              <a:rPr dirty="0"/>
              <a:t> </a:t>
            </a:r>
            <a:r>
              <a:rPr dirty="0" err="1"/>
              <a:t>definitiva</a:t>
            </a:r>
            <a:r>
              <a:rPr dirty="0"/>
              <a:t> di </a:t>
            </a:r>
            <a:r>
              <a:rPr dirty="0" err="1"/>
              <a:t>banda</a:t>
            </a:r>
            <a:r>
              <a:rPr dirty="0"/>
              <a:t>, </a:t>
            </a:r>
            <a:r>
              <a:rPr dirty="0" err="1"/>
              <a:t>materiale</a:t>
            </a:r>
            <a:r>
              <a:rPr dirty="0"/>
              <a:t>, intervalli e </a:t>
            </a:r>
            <a:r>
              <a:rPr dirty="0" err="1"/>
              <a:t>limiti</a:t>
            </a:r>
            <a:r>
              <a:rPr dirty="0"/>
              <a:t> RF </a:t>
            </a:r>
            <a:r>
              <a:rPr dirty="0" err="1"/>
              <a:t>dipende</a:t>
            </a:r>
            <a:r>
              <a:rPr dirty="0"/>
              <a:t> dal dataset. Non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specifiche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</a:t>
            </a:r>
            <a:r>
              <a:rPr dirty="0" err="1"/>
              <a:t>concordate</a:t>
            </a:r>
            <a:r>
              <a:rPr lang="it-IT" dirty="0"/>
              <a:t>!</a:t>
            </a:r>
            <a:r>
              <a:rPr dirty="0"/>
              <a:t>. </a:t>
            </a:r>
            <a:r>
              <a:rPr dirty="0" err="1"/>
              <a:t>L’obiettivo</a:t>
            </a:r>
            <a:r>
              <a:rPr dirty="0"/>
              <a:t> </a:t>
            </a:r>
            <a:r>
              <a:rPr dirty="0" err="1"/>
              <a:t>principale</a:t>
            </a:r>
            <a:r>
              <a:rPr dirty="0"/>
              <a:t> è un surrogate </a:t>
            </a:r>
            <a:r>
              <a:rPr dirty="0" err="1"/>
              <a:t>riutilizzabile</a:t>
            </a:r>
            <a:r>
              <a:rPr dirty="0"/>
              <a:t> per </a:t>
            </a:r>
            <a:r>
              <a:rPr dirty="0" err="1"/>
              <a:t>sensitività</a:t>
            </a:r>
            <a:r>
              <a:rPr dirty="0"/>
              <a:t> e yield</a:t>
            </a:r>
            <a:r>
              <a:rPr lang="it-IT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Architettura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, </a:t>
            </a:r>
            <a:r>
              <a:rPr dirty="0" err="1"/>
              <a:t>ancora</a:t>
            </a:r>
            <a:r>
              <a:rPr dirty="0"/>
              <a:t> da </a:t>
            </a:r>
            <a:r>
              <a:rPr dirty="0" err="1"/>
              <a:t>implementare</a:t>
            </a:r>
            <a:r>
              <a:rPr dirty="0"/>
              <a:t>.</a:t>
            </a:r>
            <a:r>
              <a:rPr lang="it-IT" dirty="0"/>
              <a:t> MLP, dunque rete 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connected</a:t>
            </a:r>
            <a:r>
              <a:rPr dirty="0"/>
              <a:t>. Si </a:t>
            </a:r>
            <a:r>
              <a:rPr dirty="0" err="1"/>
              <a:t>aggiungono</a:t>
            </a:r>
            <a:r>
              <a:rPr dirty="0"/>
              <a:t> Fourier features a coordinate e </a:t>
            </a:r>
            <a:r>
              <a:rPr dirty="0" err="1"/>
              <a:t>frequenza</a:t>
            </a:r>
            <a:r>
              <a:rPr dirty="0"/>
              <a:t> per </a:t>
            </a:r>
            <a:r>
              <a:rPr dirty="0" err="1"/>
              <a:t>rappresentare</a:t>
            </a:r>
            <a:r>
              <a:rPr dirty="0"/>
              <a:t> </a:t>
            </a:r>
            <a:r>
              <a:rPr dirty="0" err="1"/>
              <a:t>oscillazioni</a:t>
            </a:r>
            <a:r>
              <a:rPr dirty="0"/>
              <a:t>; la loro </a:t>
            </a:r>
            <a:r>
              <a:rPr dirty="0" err="1"/>
              <a:t>utilità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confrontata</a:t>
            </a:r>
            <a:r>
              <a:rPr dirty="0"/>
              <a:t> </a:t>
            </a:r>
            <a:r>
              <a:rPr dirty="0" err="1"/>
              <a:t>sperimentalmente</a:t>
            </a:r>
            <a:r>
              <a:rPr dirty="0"/>
              <a:t>. Input (</a:t>
            </a:r>
            <a:r>
              <a:rPr dirty="0" err="1"/>
              <a:t>r,f,g,m,p</a:t>
            </a:r>
            <a:r>
              <a:rPr dirty="0"/>
              <a:t>), dove p distingue </a:t>
            </a:r>
            <a:r>
              <a:rPr dirty="0" err="1"/>
              <a:t>l’eccitazione</a:t>
            </a:r>
            <a:r>
              <a:rPr dirty="0"/>
              <a:t> alle due </a:t>
            </a:r>
            <a:r>
              <a:rPr dirty="0" err="1"/>
              <a:t>porte</a:t>
            </a:r>
            <a:r>
              <a:rPr dirty="0"/>
              <a:t>. </a:t>
            </a:r>
            <a:endParaRPr lang="it-IT" dirty="0"/>
          </a:p>
          <a:p>
            <a:r>
              <a:rPr dirty="0"/>
              <a:t>Output: </a:t>
            </a:r>
            <a:r>
              <a:rPr dirty="0" err="1"/>
              <a:t>dodici</a:t>
            </a:r>
            <a:r>
              <a:rPr dirty="0"/>
              <a:t> </a:t>
            </a:r>
            <a:r>
              <a:rPr dirty="0" err="1"/>
              <a:t>componenti</a:t>
            </a:r>
            <a:r>
              <a:rPr dirty="0"/>
              <a:t> </a:t>
            </a:r>
            <a:r>
              <a:rPr dirty="0" err="1"/>
              <a:t>reali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rappresentano</a:t>
            </a:r>
            <a:r>
              <a:rPr dirty="0"/>
              <a:t> E </a:t>
            </a:r>
            <a:r>
              <a:rPr dirty="0" err="1"/>
              <a:t>e</a:t>
            </a:r>
            <a:r>
              <a:rPr dirty="0"/>
              <a:t> H </a:t>
            </a:r>
            <a:r>
              <a:rPr dirty="0" err="1"/>
              <a:t>complessi</a:t>
            </a:r>
            <a:r>
              <a:rPr dirty="0"/>
              <a:t>. Si </a:t>
            </a:r>
            <a:r>
              <a:rPr dirty="0" err="1"/>
              <a:t>campionano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aria e </a:t>
            </a:r>
            <a:r>
              <a:rPr dirty="0" err="1"/>
              <a:t>substrato</a:t>
            </a:r>
            <a:r>
              <a:rPr dirty="0"/>
              <a:t> e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impongono</a:t>
            </a:r>
            <a:r>
              <a:rPr dirty="0"/>
              <a:t> </a:t>
            </a:r>
            <a:r>
              <a:rPr dirty="0" err="1"/>
              <a:t>condizioni</a:t>
            </a:r>
            <a:r>
              <a:rPr dirty="0"/>
              <a:t> di </a:t>
            </a:r>
            <a:r>
              <a:rPr dirty="0" err="1"/>
              <a:t>interfaccia</a:t>
            </a:r>
            <a:r>
              <a:rPr dirty="0"/>
              <a:t>. Per </a:t>
            </a:r>
            <a:r>
              <a:rPr dirty="0" err="1"/>
              <a:t>convenzione</a:t>
            </a:r>
            <a:r>
              <a:rPr dirty="0"/>
              <a:t> </a:t>
            </a:r>
            <a:r>
              <a:rPr dirty="0" err="1"/>
              <a:t>temporale</a:t>
            </a:r>
            <a:r>
              <a:rPr dirty="0"/>
              <a:t> exp(</a:t>
            </a:r>
            <a:r>
              <a:rPr dirty="0" err="1"/>
              <a:t>jωt</a:t>
            </a:r>
            <a:r>
              <a:rPr dirty="0"/>
              <a:t>), </a:t>
            </a:r>
            <a:r>
              <a:rPr dirty="0" err="1"/>
              <a:t>nelle</a:t>
            </a:r>
            <a:r>
              <a:rPr dirty="0"/>
              <a:t> </a:t>
            </a:r>
            <a:r>
              <a:rPr dirty="0" err="1"/>
              <a:t>regioni</a:t>
            </a:r>
            <a:r>
              <a:rPr dirty="0"/>
              <a:t> </a:t>
            </a:r>
            <a:r>
              <a:rPr dirty="0" err="1"/>
              <a:t>prive</a:t>
            </a:r>
            <a:r>
              <a:rPr dirty="0"/>
              <a:t> di </a:t>
            </a:r>
            <a:r>
              <a:rPr dirty="0" err="1"/>
              <a:t>sorgenti</a:t>
            </a:r>
            <a:r>
              <a:rPr dirty="0"/>
              <a:t>: curl E + </a:t>
            </a:r>
            <a:r>
              <a:rPr dirty="0" err="1"/>
              <a:t>jωμH</a:t>
            </a:r>
            <a:r>
              <a:rPr dirty="0"/>
              <a:t> = 0; curl H - (</a:t>
            </a:r>
            <a:r>
              <a:rPr dirty="0" err="1"/>
              <a:t>σ+jωε</a:t>
            </a:r>
            <a:r>
              <a:rPr dirty="0"/>
              <a:t>)E = 0. </a:t>
            </a:r>
            <a:r>
              <a:rPr dirty="0" err="1"/>
              <a:t>Aggiungere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residui</a:t>
            </a:r>
            <a:r>
              <a:rPr dirty="0"/>
              <a:t> di </a:t>
            </a:r>
            <a:r>
              <a:rPr dirty="0" err="1"/>
              <a:t>divergenza</a:t>
            </a:r>
            <a:r>
              <a:rPr dirty="0"/>
              <a:t> </a:t>
            </a:r>
            <a:r>
              <a:rPr dirty="0" err="1"/>
              <a:t>appropriati</a:t>
            </a:r>
            <a:r>
              <a:rPr dirty="0"/>
              <a:t> in </a:t>
            </a:r>
            <a:r>
              <a:rPr dirty="0" err="1"/>
              <a:t>regioni</a:t>
            </a:r>
            <a:r>
              <a:rPr dirty="0"/>
              <a:t> </a:t>
            </a:r>
            <a:r>
              <a:rPr dirty="0" err="1"/>
              <a:t>prive</a:t>
            </a:r>
            <a:r>
              <a:rPr dirty="0"/>
              <a:t> di </a:t>
            </a:r>
            <a:r>
              <a:rPr dirty="0" err="1"/>
              <a:t>cariche</a:t>
            </a:r>
            <a:r>
              <a:rPr dirty="0"/>
              <a:t>, </a:t>
            </a:r>
            <a:r>
              <a:rPr dirty="0" err="1"/>
              <a:t>condizioni</a:t>
            </a:r>
            <a:r>
              <a:rPr dirty="0"/>
              <a:t> </a:t>
            </a:r>
            <a:r>
              <a:rPr dirty="0" err="1"/>
              <a:t>sulle</a:t>
            </a:r>
            <a:r>
              <a:rPr dirty="0"/>
              <a:t> </a:t>
            </a:r>
            <a:r>
              <a:rPr dirty="0" err="1"/>
              <a:t>superfici</a:t>
            </a:r>
            <a:r>
              <a:rPr dirty="0"/>
              <a:t> </a:t>
            </a:r>
            <a:r>
              <a:rPr dirty="0" err="1"/>
              <a:t>conduttrici</a:t>
            </a:r>
            <a:r>
              <a:rPr dirty="0"/>
              <a:t>, </a:t>
            </a:r>
            <a:r>
              <a:rPr dirty="0" err="1"/>
              <a:t>porte</a:t>
            </a:r>
            <a:r>
              <a:rPr dirty="0"/>
              <a:t> </a:t>
            </a:r>
            <a:r>
              <a:rPr dirty="0" err="1"/>
              <a:t>eccitate</a:t>
            </a:r>
            <a:r>
              <a:rPr dirty="0"/>
              <a:t>/terminate e </a:t>
            </a:r>
            <a:r>
              <a:rPr dirty="0" err="1"/>
              <a:t>bordo</a:t>
            </a:r>
            <a:r>
              <a:rPr dirty="0"/>
              <a:t> </a:t>
            </a:r>
            <a:r>
              <a:rPr dirty="0" err="1"/>
              <a:t>assorbente</a:t>
            </a:r>
            <a:r>
              <a:rPr dirty="0"/>
              <a:t>. </a:t>
            </a:r>
            <a:r>
              <a:rPr dirty="0" err="1"/>
              <a:t>Usare</a:t>
            </a:r>
            <a:r>
              <a:rPr dirty="0"/>
              <a:t> la </a:t>
            </a:r>
            <a:r>
              <a:rPr dirty="0" err="1"/>
              <a:t>stessa</a:t>
            </a:r>
            <a:r>
              <a:rPr dirty="0"/>
              <a:t> </a:t>
            </a:r>
            <a:r>
              <a:rPr dirty="0" err="1"/>
              <a:t>approssimazione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conduttori</a:t>
            </a:r>
            <a:r>
              <a:rPr dirty="0"/>
              <a:t> e degli strati </a:t>
            </a:r>
            <a:r>
              <a:rPr dirty="0" err="1"/>
              <a:t>nel</a:t>
            </a:r>
            <a:r>
              <a:rPr dirty="0"/>
              <a:t> solver e </a:t>
            </a:r>
            <a:r>
              <a:rPr dirty="0" err="1"/>
              <a:t>nel</a:t>
            </a:r>
            <a:r>
              <a:rPr dirty="0"/>
              <a:t> surrogate. I </a:t>
            </a:r>
            <a:r>
              <a:rPr dirty="0" err="1"/>
              <a:t>coefficienti</a:t>
            </a:r>
            <a:r>
              <a:rPr dirty="0"/>
              <a:t> S </a:t>
            </a:r>
            <a:r>
              <a:rPr dirty="0" err="1"/>
              <a:t>derivano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</a:t>
            </a:r>
            <a:r>
              <a:rPr dirty="0" err="1"/>
              <a:t>proiezione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campi</a:t>
            </a:r>
            <a:r>
              <a:rPr dirty="0"/>
              <a:t> sui </a:t>
            </a:r>
            <a:r>
              <a:rPr dirty="0" err="1"/>
              <a:t>modi</a:t>
            </a:r>
            <a:r>
              <a:rPr dirty="0"/>
              <a:t> di porta con </a:t>
            </a:r>
            <a:r>
              <a:rPr dirty="0" err="1"/>
              <a:t>normalizzazione</a:t>
            </a:r>
            <a:r>
              <a:rPr dirty="0"/>
              <a:t> e </a:t>
            </a:r>
            <a:r>
              <a:rPr dirty="0" err="1"/>
              <a:t>piani</a:t>
            </a:r>
            <a:r>
              <a:rPr dirty="0"/>
              <a:t> di </a:t>
            </a:r>
            <a:r>
              <a:rPr dirty="0" err="1"/>
              <a:t>riferimento</a:t>
            </a:r>
            <a:r>
              <a:rPr dirty="0"/>
              <a:t> </a:t>
            </a:r>
            <a:r>
              <a:rPr dirty="0" err="1"/>
              <a:t>comuni</a:t>
            </a:r>
            <a:r>
              <a:rPr dirty="0"/>
              <a:t>. La loss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errori</a:t>
            </a:r>
            <a:r>
              <a:rPr dirty="0"/>
              <a:t> </a:t>
            </a:r>
            <a:r>
              <a:rPr dirty="0" err="1"/>
              <a:t>complessi</a:t>
            </a:r>
            <a:r>
              <a:rPr dirty="0"/>
              <a:t> di S, </a:t>
            </a:r>
            <a:r>
              <a:rPr dirty="0" err="1"/>
              <a:t>eventuali</a:t>
            </a:r>
            <a:r>
              <a:rPr dirty="0"/>
              <a:t> </a:t>
            </a:r>
            <a:r>
              <a:rPr dirty="0" err="1"/>
              <a:t>campioni</a:t>
            </a:r>
            <a:r>
              <a:rPr dirty="0"/>
              <a:t> di campo e </a:t>
            </a:r>
            <a:r>
              <a:rPr dirty="0" err="1"/>
              <a:t>residui</a:t>
            </a:r>
            <a:r>
              <a:rPr dirty="0"/>
              <a:t> </a:t>
            </a:r>
            <a:r>
              <a:rPr dirty="0" err="1"/>
              <a:t>fisici</a:t>
            </a:r>
            <a:r>
              <a:rPr dirty="0"/>
              <a:t> </a:t>
            </a:r>
            <a:r>
              <a:rPr dirty="0" err="1"/>
              <a:t>normalizzati</a:t>
            </a:r>
            <a:r>
              <a:rPr dirty="0"/>
              <a:t>;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pesi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selezionano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validation set. Matematicamente è </a:t>
            </a:r>
            <a:r>
              <a:rPr dirty="0" err="1"/>
              <a:t>una</a:t>
            </a:r>
            <a:r>
              <a:rPr dirty="0"/>
              <a:t> PINN </a:t>
            </a:r>
            <a:r>
              <a:rPr dirty="0" err="1"/>
              <a:t>parametrica</a:t>
            </a:r>
            <a:r>
              <a:rPr lang="it-IT" dirty="0"/>
              <a:t>.</a:t>
            </a:r>
          </a:p>
          <a:p>
            <a:r>
              <a:rPr dirty="0" err="1"/>
              <a:t>Implementazione</a:t>
            </a:r>
            <a:r>
              <a:rPr lang="it-IT" dirty="0"/>
              <a:t> </a:t>
            </a:r>
            <a:r>
              <a:rPr lang="it-IT" dirty="0" err="1"/>
              <a:t>proponibiule</a:t>
            </a:r>
            <a:r>
              <a:rPr dirty="0"/>
              <a:t>: batch CAD/mesh/solve/export </a:t>
            </a:r>
            <a:r>
              <a:rPr dirty="0" err="1"/>
              <a:t>tramite</a:t>
            </a:r>
            <a:r>
              <a:rPr dirty="0"/>
              <a:t> scripting del solver </a:t>
            </a:r>
            <a:r>
              <a:rPr dirty="0" err="1"/>
              <a:t>disponibile</a:t>
            </a:r>
            <a:r>
              <a:rPr dirty="0"/>
              <a:t>, </a:t>
            </a:r>
            <a:r>
              <a:rPr dirty="0" err="1"/>
              <a:t>PyTorch</a:t>
            </a:r>
            <a:r>
              <a:rPr dirty="0"/>
              <a:t> per rete e derivate, un modulo Python per le </a:t>
            </a:r>
            <a:r>
              <a:rPr dirty="0" err="1"/>
              <a:t>regole</a:t>
            </a:r>
            <a:r>
              <a:rPr dirty="0"/>
              <a:t>. </a:t>
            </a:r>
            <a:r>
              <a:rPr dirty="0" err="1"/>
              <a:t>Richiedere</a:t>
            </a:r>
            <a:r>
              <a:rPr dirty="0"/>
              <a:t> accesso a solver, </a:t>
            </a:r>
            <a:r>
              <a:rPr dirty="0" err="1"/>
              <a:t>licenze</a:t>
            </a:r>
            <a:r>
              <a:rPr dirty="0"/>
              <a:t> e </a:t>
            </a:r>
            <a:r>
              <a:rPr dirty="0" err="1"/>
              <a:t>risorse</a:t>
            </a:r>
            <a:r>
              <a:rPr dirty="0"/>
              <a:t> prima di </a:t>
            </a:r>
            <a:r>
              <a:rPr dirty="0" err="1"/>
              <a:t>fissare</a:t>
            </a:r>
            <a:r>
              <a:rPr dirty="0"/>
              <a:t> il budget. La </a:t>
            </a:r>
            <a:r>
              <a:rPr dirty="0" err="1"/>
              <a:t>fisica</a:t>
            </a:r>
            <a:r>
              <a:rPr dirty="0"/>
              <a:t> in loss non </a:t>
            </a:r>
            <a:r>
              <a:rPr dirty="0" err="1"/>
              <a:t>garantisce</a:t>
            </a:r>
            <a:r>
              <a:rPr dirty="0"/>
              <a:t> da sola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soluzione</a:t>
            </a:r>
            <a:r>
              <a:rPr dirty="0"/>
              <a:t> </a:t>
            </a:r>
            <a:r>
              <a:rPr dirty="0" err="1"/>
              <a:t>corretta</a:t>
            </a:r>
            <a:r>
              <a:rPr lang="it-IT" dirty="0"/>
              <a:t>. Da</a:t>
            </a:r>
            <a:r>
              <a:rPr dirty="0"/>
              <a:t> </a:t>
            </a:r>
            <a:r>
              <a:rPr dirty="0" err="1"/>
              <a:t>verificare</a:t>
            </a:r>
            <a:r>
              <a:rPr dirty="0"/>
              <a:t> test </a:t>
            </a:r>
            <a:r>
              <a:rPr dirty="0" err="1"/>
              <a:t>indipendenti</a:t>
            </a:r>
            <a:r>
              <a:rPr dirty="0"/>
              <a:t> e </a:t>
            </a:r>
            <a:r>
              <a:rPr dirty="0" err="1"/>
              <a:t>convergenza</a:t>
            </a:r>
            <a:r>
              <a:rPr dirty="0"/>
              <a:t> del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contributo</a:t>
            </a:r>
            <a:r>
              <a:rPr dirty="0"/>
              <a:t> </a:t>
            </a:r>
            <a:r>
              <a:rPr dirty="0" err="1"/>
              <a:t>proposto</a:t>
            </a:r>
            <a:r>
              <a:rPr dirty="0"/>
              <a:t> è un modulo di </a:t>
            </a:r>
            <a:r>
              <a:rPr dirty="0" err="1"/>
              <a:t>acquisizione</a:t>
            </a:r>
            <a:r>
              <a:rPr dirty="0"/>
              <a:t> e audit a </a:t>
            </a:r>
            <a:r>
              <a:rPr dirty="0" err="1"/>
              <a:t>livello</a:t>
            </a:r>
            <a:r>
              <a:rPr dirty="0"/>
              <a:t> di </a:t>
            </a:r>
            <a:r>
              <a:rPr dirty="0" err="1"/>
              <a:t>regol</a:t>
            </a:r>
            <a:r>
              <a:rPr lang="it-IT" dirty="0"/>
              <a:t>e</a:t>
            </a:r>
            <a:r>
              <a:rPr dirty="0"/>
              <a:t>, </a:t>
            </a:r>
            <a:r>
              <a:rPr dirty="0" err="1"/>
              <a:t>integrato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PINN </a:t>
            </a:r>
            <a:r>
              <a:rPr dirty="0" err="1"/>
              <a:t>parametrica</a:t>
            </a:r>
            <a:r>
              <a:rPr dirty="0"/>
              <a:t>. Non </a:t>
            </a:r>
            <a:r>
              <a:rPr dirty="0" err="1"/>
              <a:t>rivendichiamo</a:t>
            </a:r>
            <a:r>
              <a:rPr dirty="0"/>
              <a:t> come </a:t>
            </a:r>
            <a:r>
              <a:rPr dirty="0" err="1"/>
              <a:t>nuovi</a:t>
            </a:r>
            <a:r>
              <a:rPr dirty="0"/>
              <a:t> né surrogate, né active learning, né </a:t>
            </a:r>
            <a:r>
              <a:rPr dirty="0" err="1"/>
              <a:t>vincoli</a:t>
            </a:r>
            <a:r>
              <a:rPr dirty="0"/>
              <a:t>, né la </a:t>
            </a:r>
            <a:r>
              <a:rPr dirty="0" err="1"/>
              <a:t>verifica</a:t>
            </a:r>
            <a:r>
              <a:rPr dirty="0"/>
              <a:t> </a:t>
            </a:r>
            <a:r>
              <a:rPr dirty="0" err="1"/>
              <a:t>selettiva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present</a:t>
            </a:r>
            <a:r>
              <a:rPr lang="it-IT" dirty="0"/>
              <a:t>i</a:t>
            </a:r>
            <a:r>
              <a:rPr dirty="0"/>
              <a:t>. La </a:t>
            </a:r>
            <a:r>
              <a:rPr dirty="0" err="1"/>
              <a:t>differenza</a:t>
            </a:r>
            <a:r>
              <a:rPr dirty="0"/>
              <a:t> da </a:t>
            </a:r>
            <a:r>
              <a:rPr dirty="0" err="1"/>
              <a:t>implementare</a:t>
            </a:r>
            <a:r>
              <a:rPr dirty="0"/>
              <a:t> rispetto al benchmark è </a:t>
            </a:r>
            <a:r>
              <a:rPr dirty="0" err="1"/>
              <a:t>l’uso</a:t>
            </a:r>
            <a:r>
              <a:rPr dirty="0"/>
              <a:t> </a:t>
            </a:r>
            <a:r>
              <a:rPr dirty="0" err="1"/>
              <a:t>congiunto</a:t>
            </a:r>
            <a:r>
              <a:rPr dirty="0"/>
              <a:t> di </a:t>
            </a:r>
            <a:r>
              <a:rPr dirty="0" err="1"/>
              <a:t>predicati</a:t>
            </a:r>
            <a:r>
              <a:rPr dirty="0"/>
              <a:t> RF </a:t>
            </a:r>
            <a:r>
              <a:rPr dirty="0" err="1"/>
              <a:t>espliciti</a:t>
            </a:r>
            <a:r>
              <a:rPr dirty="0"/>
              <a:t> e </a:t>
            </a:r>
            <a:r>
              <a:rPr dirty="0" err="1"/>
              <a:t>residui</a:t>
            </a:r>
            <a:r>
              <a:rPr dirty="0"/>
              <a:t> Maxwell per </a:t>
            </a:r>
            <a:r>
              <a:rPr dirty="0" err="1"/>
              <a:t>decidere</a:t>
            </a:r>
            <a:r>
              <a:rPr dirty="0"/>
              <a:t> </a:t>
            </a:r>
            <a:r>
              <a:rPr dirty="0" err="1"/>
              <a:t>quali</a:t>
            </a:r>
            <a:r>
              <a:rPr dirty="0"/>
              <a:t> </a:t>
            </a:r>
            <a:r>
              <a:rPr dirty="0" err="1"/>
              <a:t>nuove</a:t>
            </a:r>
            <a:r>
              <a:rPr dirty="0"/>
              <a:t> </a:t>
            </a:r>
            <a:r>
              <a:rPr dirty="0" err="1"/>
              <a:t>simulazioni</a:t>
            </a:r>
            <a:r>
              <a:rPr dirty="0"/>
              <a:t> </a:t>
            </a:r>
            <a:r>
              <a:rPr dirty="0" err="1"/>
              <a:t>ottenere</a:t>
            </a:r>
            <a:r>
              <a:rPr dirty="0"/>
              <a:t>. La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originalità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 non è </a:t>
            </a:r>
            <a:r>
              <a:rPr dirty="0" err="1"/>
              <a:t>accertata</a:t>
            </a:r>
            <a:r>
              <a:rPr dirty="0"/>
              <a:t> da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ricerca</a:t>
            </a:r>
            <a:r>
              <a:rPr dirty="0"/>
              <a:t> </a:t>
            </a:r>
            <a:r>
              <a:rPr dirty="0" err="1"/>
              <a:t>brevettuale</a:t>
            </a:r>
            <a:r>
              <a:rPr dirty="0"/>
              <a:t> o da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revisione</a:t>
            </a:r>
            <a:r>
              <a:rPr dirty="0"/>
              <a:t> </a:t>
            </a:r>
            <a:r>
              <a:rPr dirty="0" err="1"/>
              <a:t>esaustiva</a:t>
            </a:r>
            <a:r>
              <a:rPr dirty="0"/>
              <a:t>.</a:t>
            </a:r>
          </a:p>
          <a:p>
            <a:r>
              <a:rPr dirty="0" err="1"/>
              <a:t>Regole</a:t>
            </a:r>
            <a:r>
              <a:rPr dirty="0"/>
              <a:t> in forma </a:t>
            </a:r>
            <a:r>
              <a:rPr dirty="0" err="1"/>
              <a:t>strutturata</a:t>
            </a:r>
            <a:r>
              <a:rPr dirty="0"/>
              <a:t>: {id, scope, band, operator, threshold, units}. Scope distingue </a:t>
            </a:r>
            <a:r>
              <a:rPr dirty="0" err="1"/>
              <a:t>geometria</a:t>
            </a:r>
            <a:r>
              <a:rPr dirty="0"/>
              <a:t>, </a:t>
            </a:r>
            <a:r>
              <a:rPr dirty="0" err="1"/>
              <a:t>materiale</a:t>
            </a:r>
            <a:r>
              <a:rPr dirty="0"/>
              <a:t> e </a:t>
            </a:r>
            <a:r>
              <a:rPr dirty="0" err="1"/>
              <a:t>prestazione</a:t>
            </a:r>
            <a:r>
              <a:rPr dirty="0"/>
              <a:t>. Le </a:t>
            </a:r>
            <a:r>
              <a:rPr dirty="0" err="1"/>
              <a:t>regole</a:t>
            </a:r>
            <a:r>
              <a:rPr dirty="0"/>
              <a:t> </a:t>
            </a:r>
            <a:r>
              <a:rPr dirty="0" err="1"/>
              <a:t>restituiscono</a:t>
            </a:r>
            <a:r>
              <a:rPr dirty="0"/>
              <a:t> un </a:t>
            </a:r>
            <a:r>
              <a:rPr dirty="0" err="1"/>
              <a:t>margine</a:t>
            </a:r>
            <a:r>
              <a:rPr dirty="0"/>
              <a:t> </a:t>
            </a:r>
            <a:r>
              <a:rPr dirty="0" err="1"/>
              <a:t>normalizzato</a:t>
            </a:r>
            <a:r>
              <a:rPr dirty="0"/>
              <a:t> </a:t>
            </a:r>
            <a:r>
              <a:rPr dirty="0" err="1"/>
              <a:t>positivo</a:t>
            </a:r>
            <a:r>
              <a:rPr dirty="0"/>
              <a:t> per </a:t>
            </a:r>
            <a:r>
              <a:rPr dirty="0" err="1"/>
              <a:t>conformità</a:t>
            </a:r>
            <a:r>
              <a:rPr dirty="0"/>
              <a:t> e </a:t>
            </a:r>
            <a:r>
              <a:rPr dirty="0" err="1"/>
              <a:t>negativo</a:t>
            </a:r>
            <a:r>
              <a:rPr dirty="0"/>
              <a:t> per </a:t>
            </a:r>
            <a:r>
              <a:rPr dirty="0" err="1"/>
              <a:t>violazione</a:t>
            </a:r>
            <a:r>
              <a:rPr dirty="0"/>
              <a:t>, con ID del </a:t>
            </a:r>
            <a:r>
              <a:rPr dirty="0" err="1"/>
              <a:t>requisito</a:t>
            </a:r>
            <a:r>
              <a:rPr dirty="0"/>
              <a:t>. Le </a:t>
            </a:r>
            <a:r>
              <a:rPr dirty="0" err="1"/>
              <a:t>tolleranze</a:t>
            </a:r>
            <a:r>
              <a:rPr dirty="0"/>
              <a:t> </a:t>
            </a:r>
            <a:r>
              <a:rPr dirty="0" err="1"/>
              <a:t>provengono</a:t>
            </a:r>
            <a:r>
              <a:rPr dirty="0"/>
              <a:t> dal </a:t>
            </a:r>
            <a:r>
              <a:rPr dirty="0" err="1"/>
              <a:t>processo</a:t>
            </a:r>
            <a:r>
              <a:rPr dirty="0"/>
              <a:t> o da </a:t>
            </a:r>
            <a:r>
              <a:rPr dirty="0" err="1"/>
              <a:t>ipotesi</a:t>
            </a:r>
            <a:r>
              <a:rPr dirty="0"/>
              <a:t> </a:t>
            </a:r>
            <a:r>
              <a:rPr dirty="0" err="1"/>
              <a:t>dichiarate</a:t>
            </a:r>
            <a:r>
              <a:rPr dirty="0"/>
              <a:t>. Per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geometria</a:t>
            </a:r>
            <a:r>
              <a:rPr dirty="0"/>
              <a:t> </a:t>
            </a:r>
            <a:r>
              <a:rPr dirty="0" err="1"/>
              <a:t>ammissibile</a:t>
            </a:r>
            <a:r>
              <a:rPr dirty="0"/>
              <a:t> g, un </a:t>
            </a:r>
            <a:r>
              <a:rPr dirty="0" err="1"/>
              <a:t>possibile</a:t>
            </a:r>
            <a:r>
              <a:rPr dirty="0"/>
              <a:t> </a:t>
            </a:r>
            <a:r>
              <a:rPr dirty="0" err="1"/>
              <a:t>punteggio</a:t>
            </a:r>
            <a:r>
              <a:rPr dirty="0"/>
              <a:t> </a:t>
            </a:r>
            <a:r>
              <a:rPr dirty="0" err="1"/>
              <a:t>sperimentale</a:t>
            </a:r>
            <a:r>
              <a:rPr dirty="0"/>
              <a:t> è a(g)=</a:t>
            </a:r>
            <a:r>
              <a:rPr dirty="0" err="1"/>
              <a:t>max_j</a:t>
            </a:r>
            <a:r>
              <a:rPr dirty="0"/>
              <a:t> </a:t>
            </a:r>
            <a:r>
              <a:rPr dirty="0" err="1"/>
              <a:t>u_j</a:t>
            </a:r>
            <a:r>
              <a:rPr dirty="0"/>
              <a:t>(g)/(|</a:t>
            </a:r>
            <a:r>
              <a:rPr dirty="0" err="1"/>
              <a:t>m_j</a:t>
            </a:r>
            <a:r>
              <a:rPr dirty="0"/>
              <a:t>(g)|+epsilon) + lambda*</a:t>
            </a:r>
            <a:r>
              <a:rPr dirty="0" err="1"/>
              <a:t>r_M</a:t>
            </a:r>
            <a:r>
              <a:rPr dirty="0"/>
              <a:t>(g), dopo </a:t>
            </a:r>
            <a:r>
              <a:rPr dirty="0" err="1"/>
              <a:t>normalizzazione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validation set. </a:t>
            </a:r>
            <a:r>
              <a:rPr dirty="0" err="1"/>
              <a:t>m_j</a:t>
            </a:r>
            <a:r>
              <a:rPr dirty="0"/>
              <a:t> è il </a:t>
            </a:r>
            <a:r>
              <a:rPr dirty="0" err="1"/>
              <a:t>margine</a:t>
            </a:r>
            <a:r>
              <a:rPr dirty="0"/>
              <a:t> medio per la </a:t>
            </a:r>
            <a:r>
              <a:rPr dirty="0" err="1"/>
              <a:t>regola</a:t>
            </a:r>
            <a:r>
              <a:rPr dirty="0"/>
              <a:t> j, </a:t>
            </a:r>
            <a:r>
              <a:rPr dirty="0" err="1"/>
              <a:t>u_j</a:t>
            </a:r>
            <a:r>
              <a:rPr dirty="0"/>
              <a:t> la </a:t>
            </a:r>
            <a:r>
              <a:rPr dirty="0" err="1"/>
              <a:t>dispersione</a:t>
            </a:r>
            <a:r>
              <a:rPr dirty="0"/>
              <a:t> </a:t>
            </a:r>
            <a:r>
              <a:rPr dirty="0" err="1"/>
              <a:t>stimata</a:t>
            </a:r>
            <a:r>
              <a:rPr dirty="0"/>
              <a:t> da un ensemble di PINN e </a:t>
            </a:r>
            <a:r>
              <a:rPr dirty="0" err="1"/>
              <a:t>r_M</a:t>
            </a:r>
            <a:r>
              <a:rPr dirty="0"/>
              <a:t> il </a:t>
            </a:r>
            <a:r>
              <a:rPr dirty="0" err="1"/>
              <a:t>residuo</a:t>
            </a:r>
            <a:r>
              <a:rPr dirty="0"/>
              <a:t> Maxwell </a:t>
            </a:r>
            <a:r>
              <a:rPr dirty="0" err="1"/>
              <a:t>misurato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punti</a:t>
            </a:r>
            <a:r>
              <a:rPr dirty="0"/>
              <a:t> non </a:t>
            </a:r>
            <a:r>
              <a:rPr dirty="0" err="1"/>
              <a:t>usati</a:t>
            </a:r>
            <a:r>
              <a:rPr dirty="0"/>
              <a:t> </a:t>
            </a:r>
            <a:r>
              <a:rPr dirty="0" err="1"/>
              <a:t>nel</a:t>
            </a:r>
            <a:r>
              <a:rPr dirty="0"/>
              <a:t> training. Il </a:t>
            </a:r>
            <a:r>
              <a:rPr dirty="0" err="1"/>
              <a:t>rapporto</a:t>
            </a:r>
            <a:r>
              <a:rPr dirty="0"/>
              <a:t> </a:t>
            </a:r>
            <a:r>
              <a:rPr dirty="0" err="1"/>
              <a:t>incertezza</a:t>
            </a:r>
            <a:r>
              <a:rPr dirty="0"/>
              <a:t>/</a:t>
            </a:r>
            <a:r>
              <a:rPr dirty="0" err="1"/>
              <a:t>margine</a:t>
            </a:r>
            <a:r>
              <a:rPr dirty="0"/>
              <a:t> è un </a:t>
            </a:r>
            <a:r>
              <a:rPr dirty="0" err="1"/>
              <a:t>criterio</a:t>
            </a:r>
            <a:r>
              <a:rPr dirty="0"/>
              <a:t> </a:t>
            </a:r>
            <a:r>
              <a:rPr dirty="0" err="1"/>
              <a:t>esistente</a:t>
            </a:r>
            <a:r>
              <a:rPr dirty="0"/>
              <a:t> di </a:t>
            </a:r>
            <a:r>
              <a:rPr dirty="0" err="1"/>
              <a:t>apprendimento</a:t>
            </a:r>
            <a:r>
              <a:rPr dirty="0"/>
              <a:t> </a:t>
            </a:r>
            <a:r>
              <a:rPr dirty="0" err="1"/>
              <a:t>attivo</a:t>
            </a:r>
            <a:r>
              <a:rPr dirty="0"/>
              <a:t>, non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nuova</a:t>
            </a:r>
            <a:r>
              <a:rPr dirty="0"/>
              <a:t> </a:t>
            </a:r>
            <a:r>
              <a:rPr dirty="0" err="1"/>
              <a:t>invenzione</a:t>
            </a:r>
            <a:r>
              <a:rPr dirty="0"/>
              <a:t>. Si propone di </a:t>
            </a:r>
            <a:r>
              <a:rPr dirty="0" err="1"/>
              <a:t>valutare</a:t>
            </a:r>
            <a:r>
              <a:rPr dirty="0"/>
              <a:t> il </a:t>
            </a:r>
            <a:r>
              <a:rPr dirty="0" err="1"/>
              <a:t>termine</a:t>
            </a:r>
            <a:r>
              <a:rPr dirty="0"/>
              <a:t> </a:t>
            </a:r>
            <a:r>
              <a:rPr dirty="0" err="1"/>
              <a:t>fisico</a:t>
            </a:r>
            <a:r>
              <a:rPr dirty="0"/>
              <a:t> </a:t>
            </a:r>
            <a:r>
              <a:rPr dirty="0" err="1"/>
              <a:t>aggiuntivo</a:t>
            </a:r>
            <a:r>
              <a:rPr dirty="0"/>
              <a:t> e il controller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predicati</a:t>
            </a:r>
            <a:r>
              <a:rPr dirty="0"/>
              <a:t>. </a:t>
            </a:r>
            <a:r>
              <a:rPr dirty="0" err="1"/>
              <a:t>Riservare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quota di </a:t>
            </a:r>
            <a:r>
              <a:rPr dirty="0" err="1"/>
              <a:t>esplorazione</a:t>
            </a:r>
            <a:r>
              <a:rPr dirty="0"/>
              <a:t> per non </a:t>
            </a:r>
            <a:r>
              <a:rPr dirty="0" err="1"/>
              <a:t>trascurare</a:t>
            </a:r>
            <a:r>
              <a:rPr dirty="0"/>
              <a:t> </a:t>
            </a:r>
            <a:r>
              <a:rPr dirty="0" err="1"/>
              <a:t>regioni</a:t>
            </a:r>
            <a:r>
              <a:rPr dirty="0"/>
              <a:t> poco note. I </a:t>
            </a:r>
            <a:r>
              <a:rPr dirty="0" err="1"/>
              <a:t>casi</a:t>
            </a:r>
            <a:r>
              <a:rPr dirty="0"/>
              <a:t> </a:t>
            </a:r>
            <a:r>
              <a:rPr dirty="0" err="1"/>
              <a:t>fuori</a:t>
            </a:r>
            <a:r>
              <a:rPr dirty="0"/>
              <a:t>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passano</a:t>
            </a:r>
            <a:r>
              <a:rPr dirty="0"/>
              <a:t> al solver. Una </a:t>
            </a:r>
            <a:r>
              <a:rPr dirty="0" err="1"/>
              <a:t>previsione</a:t>
            </a:r>
            <a:r>
              <a:rPr dirty="0"/>
              <a:t> </a:t>
            </a:r>
            <a:r>
              <a:rPr dirty="0" err="1"/>
              <a:t>chiaramente</a:t>
            </a:r>
            <a:r>
              <a:rPr dirty="0"/>
              <a:t> 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resta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previsione</a:t>
            </a:r>
            <a:r>
              <a:rPr dirty="0"/>
              <a:t>, non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certificazione</a:t>
            </a:r>
            <a:r>
              <a:rPr dirty="0"/>
              <a:t>.</a:t>
            </a:r>
          </a:p>
          <a:p>
            <a:r>
              <a:rPr dirty="0" err="1"/>
              <a:t>L’ablation</a:t>
            </a:r>
            <a:r>
              <a:rPr dirty="0"/>
              <a:t>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stessi</a:t>
            </a:r>
            <a:r>
              <a:rPr dirty="0"/>
              <a:t> </a:t>
            </a:r>
            <a:r>
              <a:rPr dirty="0" err="1"/>
              <a:t>vincoli</a:t>
            </a:r>
            <a:r>
              <a:rPr dirty="0"/>
              <a:t> </a:t>
            </a:r>
            <a:r>
              <a:rPr dirty="0" err="1"/>
              <a:t>geometrici</a:t>
            </a:r>
            <a:r>
              <a:rPr dirty="0"/>
              <a:t> in tutti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metodi</a:t>
            </a:r>
            <a:r>
              <a:rPr dirty="0"/>
              <a:t>: </a:t>
            </a:r>
            <a:r>
              <a:rPr dirty="0" err="1"/>
              <a:t>confronta</a:t>
            </a:r>
            <a:r>
              <a:rPr dirty="0"/>
              <a:t> la regia completa con la </a:t>
            </a:r>
            <a:r>
              <a:rPr dirty="0" err="1"/>
              <a:t>stessa</a:t>
            </a:r>
            <a:r>
              <a:rPr dirty="0"/>
              <a:t> PINN e un </a:t>
            </a:r>
            <a:r>
              <a:rPr dirty="0" err="1"/>
              <a:t>criterio</a:t>
            </a:r>
            <a:r>
              <a:rPr dirty="0"/>
              <a:t> di </a:t>
            </a:r>
            <a:r>
              <a:rPr dirty="0" err="1"/>
              <a:t>acquisizione</a:t>
            </a:r>
            <a:r>
              <a:rPr dirty="0"/>
              <a:t> solo </a:t>
            </a:r>
            <a:r>
              <a:rPr dirty="0" err="1"/>
              <a:t>basato</a:t>
            </a:r>
            <a:r>
              <a:rPr dirty="0"/>
              <a:t> </a:t>
            </a:r>
            <a:r>
              <a:rPr dirty="0" err="1"/>
              <a:t>sull’incertezza</a:t>
            </a:r>
            <a:r>
              <a:rPr dirty="0"/>
              <a:t>. </a:t>
            </a:r>
            <a:r>
              <a:rPr dirty="0" err="1"/>
              <a:t>Misurare</a:t>
            </a:r>
            <a:r>
              <a:rPr dirty="0"/>
              <a:t> il </a:t>
            </a:r>
            <a:r>
              <a:rPr dirty="0" err="1"/>
              <a:t>valore</a:t>
            </a:r>
            <a:r>
              <a:rPr dirty="0"/>
              <a:t> del </a:t>
            </a:r>
            <a:r>
              <a:rPr dirty="0" err="1"/>
              <a:t>termine</a:t>
            </a:r>
            <a:r>
              <a:rPr dirty="0"/>
              <a:t> Maxwell, </a:t>
            </a:r>
            <a:r>
              <a:rPr dirty="0" err="1"/>
              <a:t>dell’identità</a:t>
            </a:r>
            <a:r>
              <a:rPr dirty="0"/>
              <a:t> del </a:t>
            </a:r>
            <a:r>
              <a:rPr dirty="0" err="1"/>
              <a:t>requisito</a:t>
            </a:r>
            <a:r>
              <a:rPr dirty="0"/>
              <a:t> e </a:t>
            </a:r>
            <a:r>
              <a:rPr dirty="0" err="1"/>
              <a:t>dell’audit</a:t>
            </a:r>
            <a:r>
              <a:rPr dirty="0"/>
              <a:t>, senza </a:t>
            </a:r>
            <a:r>
              <a:rPr dirty="0" err="1"/>
              <a:t>attribuire</a:t>
            </a:r>
            <a:r>
              <a:rPr dirty="0"/>
              <a:t> </a:t>
            </a:r>
            <a:r>
              <a:rPr dirty="0" err="1"/>
              <a:t>benefici</a:t>
            </a:r>
            <a:r>
              <a:rPr dirty="0"/>
              <a:t> a </a:t>
            </a:r>
            <a:r>
              <a:rPr dirty="0" err="1"/>
              <a:t>semplici</a:t>
            </a:r>
            <a:r>
              <a:rPr dirty="0"/>
              <a:t> </a:t>
            </a:r>
            <a:r>
              <a:rPr dirty="0" err="1"/>
              <a:t>limiti</a:t>
            </a:r>
            <a:r>
              <a:rPr dirty="0"/>
              <a:t> </a:t>
            </a:r>
            <a:r>
              <a:rPr dirty="0" err="1"/>
              <a:t>geometrici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standard. La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simbolica</a:t>
            </a:r>
            <a:r>
              <a:rPr dirty="0"/>
              <a:t> è </a:t>
            </a:r>
            <a:r>
              <a:rPr dirty="0" err="1"/>
              <a:t>deliberatamente</a:t>
            </a:r>
            <a:r>
              <a:rPr dirty="0"/>
              <a:t> </a:t>
            </a:r>
            <a:r>
              <a:rPr dirty="0" err="1"/>
              <a:t>circoscritta</a:t>
            </a:r>
            <a:r>
              <a:rPr dirty="0"/>
              <a:t> e non </a:t>
            </a:r>
            <a:r>
              <a:rPr dirty="0" err="1"/>
              <a:t>usa</a:t>
            </a:r>
            <a:r>
              <a:rPr dirty="0"/>
              <a:t> un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Il briefing del mentor </a:t>
            </a:r>
            <a:r>
              <a:rPr dirty="0" err="1"/>
              <a:t>identifica</a:t>
            </a:r>
            <a:r>
              <a:rPr dirty="0"/>
              <a:t> </a:t>
            </a:r>
            <a:r>
              <a:rPr dirty="0" err="1"/>
              <a:t>FGSA+Kriging</a:t>
            </a:r>
            <a:r>
              <a:rPr dirty="0"/>
              <a:t>, Neuro-TF e </a:t>
            </a:r>
            <a:r>
              <a:rPr dirty="0" err="1"/>
              <a:t>altre</a:t>
            </a:r>
            <a:r>
              <a:rPr dirty="0"/>
              <a:t> ANN come alternative </a:t>
            </a:r>
            <a:r>
              <a:rPr dirty="0" err="1"/>
              <a:t>rilevanti</a:t>
            </a:r>
            <a:r>
              <a:rPr dirty="0"/>
              <a:t>. Il </a:t>
            </a:r>
            <a:r>
              <a:rPr dirty="0" err="1"/>
              <a:t>confronto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quindi</a:t>
            </a:r>
            <a:r>
              <a:rPr dirty="0"/>
              <a:t> </a:t>
            </a:r>
            <a:r>
              <a:rPr dirty="0" err="1"/>
              <a:t>comprendere</a:t>
            </a:r>
            <a:r>
              <a:rPr dirty="0"/>
              <a:t> </a:t>
            </a:r>
            <a:r>
              <a:rPr dirty="0" err="1"/>
              <a:t>questi</a:t>
            </a:r>
            <a:r>
              <a:rPr dirty="0"/>
              <a:t> </a:t>
            </a:r>
            <a:r>
              <a:rPr dirty="0" err="1"/>
              <a:t>modelli</a:t>
            </a:r>
            <a:r>
              <a:rPr dirty="0"/>
              <a:t>, non solo </a:t>
            </a:r>
            <a:r>
              <a:rPr dirty="0" err="1"/>
              <a:t>una</a:t>
            </a:r>
            <a:r>
              <a:rPr dirty="0"/>
              <a:t> rete </a:t>
            </a:r>
            <a:r>
              <a:rPr dirty="0" err="1"/>
              <a:t>generica</a:t>
            </a:r>
            <a:r>
              <a:rPr dirty="0"/>
              <a:t>. </a:t>
            </a:r>
            <a:r>
              <a:rPr dirty="0" err="1"/>
              <a:t>L’implementazione</a:t>
            </a:r>
            <a:r>
              <a:rPr dirty="0"/>
              <a:t> include </a:t>
            </a:r>
            <a:r>
              <a:rPr dirty="0" err="1"/>
              <a:t>sensibilità</a:t>
            </a:r>
            <a:r>
              <a:rPr dirty="0"/>
              <a:t> EM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esportabili</a:t>
            </a:r>
            <a:r>
              <a:rPr dirty="0"/>
              <a:t>: se non </a:t>
            </a:r>
            <a:r>
              <a:rPr dirty="0" err="1"/>
              <a:t>disponibili</a:t>
            </a:r>
            <a:r>
              <a:rPr dirty="0"/>
              <a:t>, </a:t>
            </a:r>
            <a:r>
              <a:rPr lang="it-IT" dirty="0"/>
              <a:t>possibile </a:t>
            </a:r>
            <a:r>
              <a:rPr dirty="0" err="1"/>
              <a:t>usare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baseline Neuro-TF </a:t>
            </a:r>
            <a:r>
              <a:rPr dirty="0" err="1"/>
              <a:t>semplificata</a:t>
            </a:r>
            <a:r>
              <a:rPr dirty="0"/>
              <a:t>.</a:t>
            </a:r>
            <a:r>
              <a:rPr lang="it-IT" dirty="0"/>
              <a:t> </a:t>
            </a:r>
            <a:r>
              <a:rPr dirty="0" err="1"/>
              <a:t>contabilizzare</a:t>
            </a:r>
            <a:r>
              <a:rPr dirty="0"/>
              <a:t> </a:t>
            </a:r>
            <a:r>
              <a:rPr dirty="0" err="1"/>
              <a:t>separatamente</a:t>
            </a:r>
            <a:r>
              <a:rPr dirty="0"/>
              <a:t> </a:t>
            </a:r>
            <a:r>
              <a:rPr dirty="0" err="1"/>
              <a:t>costo</a:t>
            </a:r>
            <a:r>
              <a:rPr dirty="0"/>
              <a:t> di </a:t>
            </a:r>
            <a:r>
              <a:rPr dirty="0" err="1"/>
              <a:t>sensitività</a:t>
            </a:r>
            <a:r>
              <a:rPr dirty="0"/>
              <a:t>, </a:t>
            </a:r>
            <a:r>
              <a:rPr dirty="0" err="1"/>
              <a:t>campi</a:t>
            </a:r>
            <a:r>
              <a:rPr dirty="0"/>
              <a:t> e </a:t>
            </a:r>
            <a:r>
              <a:rPr dirty="0" err="1"/>
              <a:t>collocazione</a:t>
            </a:r>
            <a:r>
              <a:rPr dirty="0"/>
              <a:t> </a:t>
            </a:r>
            <a:r>
              <a:rPr dirty="0" err="1"/>
              <a:t>fisica</a:t>
            </a:r>
            <a:r>
              <a:rPr dirty="0"/>
              <a:t>. Per Kriging </a:t>
            </a:r>
            <a:r>
              <a:rPr dirty="0" err="1"/>
              <a:t>su</a:t>
            </a:r>
            <a:r>
              <a:rPr dirty="0"/>
              <a:t> curve S </a:t>
            </a:r>
            <a:r>
              <a:rPr dirty="0" err="1"/>
              <a:t>complesse</a:t>
            </a:r>
            <a:r>
              <a:rPr dirty="0"/>
              <a:t> </a:t>
            </a:r>
            <a:r>
              <a:rPr dirty="0" err="1"/>
              <a:t>definire</a:t>
            </a:r>
            <a:r>
              <a:rPr dirty="0"/>
              <a:t> la </a:t>
            </a:r>
            <a:r>
              <a:rPr dirty="0" err="1"/>
              <a:t>stessa</a:t>
            </a:r>
            <a:r>
              <a:rPr dirty="0"/>
              <a:t> </a:t>
            </a:r>
            <a:r>
              <a:rPr dirty="0" err="1"/>
              <a:t>griglia</a:t>
            </a:r>
            <a:r>
              <a:rPr dirty="0"/>
              <a:t> di </a:t>
            </a:r>
            <a:r>
              <a:rPr dirty="0" err="1"/>
              <a:t>frequenze</a:t>
            </a:r>
            <a:r>
              <a:rPr dirty="0"/>
              <a:t> 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rappresentazione</a:t>
            </a:r>
            <a:r>
              <a:rPr dirty="0"/>
              <a:t> real/</a:t>
            </a:r>
            <a:r>
              <a:rPr dirty="0" err="1"/>
              <a:t>imag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riduzione</a:t>
            </a:r>
            <a:r>
              <a:rPr dirty="0"/>
              <a:t> della </a:t>
            </a:r>
            <a:r>
              <a:rPr dirty="0" err="1"/>
              <a:t>risposta</a:t>
            </a:r>
            <a:r>
              <a:rPr dirty="0"/>
              <a:t> </a:t>
            </a:r>
            <a:r>
              <a:rPr dirty="0" err="1"/>
              <a:t>verificata</a:t>
            </a:r>
            <a:r>
              <a:rPr dirty="0"/>
              <a:t>.</a:t>
            </a:r>
          </a:p>
          <a:p>
            <a:r>
              <a:rPr dirty="0"/>
              <a:t>Il solo dataset S non </a:t>
            </a:r>
            <a:r>
              <a:rPr dirty="0" err="1"/>
              <a:t>permette</a:t>
            </a:r>
            <a:r>
              <a:rPr dirty="0"/>
              <a:t> di </a:t>
            </a:r>
            <a:r>
              <a:rPr dirty="0" err="1"/>
              <a:t>ricostruire</a:t>
            </a:r>
            <a:r>
              <a:rPr dirty="0"/>
              <a:t> il </a:t>
            </a:r>
            <a:r>
              <a:rPr dirty="0" err="1"/>
              <a:t>problema</a:t>
            </a:r>
            <a:r>
              <a:rPr dirty="0"/>
              <a:t> Maxwell: </a:t>
            </a:r>
            <a:r>
              <a:rPr dirty="0" err="1"/>
              <a:t>geometria</a:t>
            </a:r>
            <a:r>
              <a:rPr dirty="0"/>
              <a:t>, </a:t>
            </a:r>
            <a:r>
              <a:rPr dirty="0" err="1"/>
              <a:t>materiali</a:t>
            </a:r>
            <a:r>
              <a:rPr dirty="0"/>
              <a:t>, </a:t>
            </a:r>
            <a:r>
              <a:rPr dirty="0" err="1"/>
              <a:t>porte</a:t>
            </a:r>
            <a:r>
              <a:rPr dirty="0"/>
              <a:t> e </a:t>
            </a:r>
            <a:r>
              <a:rPr dirty="0" err="1"/>
              <a:t>condizioni</a:t>
            </a:r>
            <a:r>
              <a:rPr dirty="0"/>
              <a:t> al contorno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indispensabili</a:t>
            </a:r>
            <a:r>
              <a:rPr dirty="0"/>
              <a:t>. I </a:t>
            </a:r>
            <a:r>
              <a:rPr dirty="0" err="1"/>
              <a:t>campi</a:t>
            </a:r>
            <a:r>
              <a:rPr dirty="0"/>
              <a:t> </a:t>
            </a:r>
            <a:r>
              <a:rPr dirty="0" err="1"/>
              <a:t>etichettati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utili</a:t>
            </a:r>
            <a:r>
              <a:rPr dirty="0"/>
              <a:t> ma non </a:t>
            </a:r>
            <a:r>
              <a:rPr dirty="0" err="1"/>
              <a:t>strettamente</a:t>
            </a:r>
            <a:r>
              <a:rPr dirty="0"/>
              <a:t> </a:t>
            </a:r>
            <a:r>
              <a:rPr dirty="0" err="1"/>
              <a:t>necessari</a:t>
            </a:r>
            <a:r>
              <a:rPr dirty="0"/>
              <a:t> per </a:t>
            </a:r>
            <a:r>
              <a:rPr dirty="0" err="1"/>
              <a:t>una</a:t>
            </a:r>
            <a:r>
              <a:rPr dirty="0"/>
              <a:t> PINN </a:t>
            </a:r>
            <a:r>
              <a:rPr dirty="0" err="1"/>
              <a:t>ibrida</a:t>
            </a:r>
            <a:r>
              <a:rPr dirty="0"/>
              <a:t> con loss </a:t>
            </a:r>
            <a:r>
              <a:rPr dirty="0" err="1"/>
              <a:t>fisica</a:t>
            </a:r>
            <a:r>
              <a:rPr dirty="0"/>
              <a:t>. </a:t>
            </a:r>
            <a:r>
              <a:rPr dirty="0" err="1"/>
              <a:t>Dividere</a:t>
            </a:r>
            <a:r>
              <a:rPr dirty="0"/>
              <a:t> train/validation/test per </a:t>
            </a:r>
            <a:r>
              <a:rPr dirty="0" err="1"/>
              <a:t>geometrie</a:t>
            </a:r>
            <a:r>
              <a:rPr dirty="0"/>
              <a:t> complete per </a:t>
            </a:r>
            <a:r>
              <a:rPr dirty="0" err="1"/>
              <a:t>evitare</a:t>
            </a:r>
            <a:r>
              <a:rPr dirty="0"/>
              <a:t> leakage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frequenze</a:t>
            </a:r>
            <a:r>
              <a:rPr dirty="0"/>
              <a:t> </a:t>
            </a:r>
            <a:r>
              <a:rPr dirty="0" err="1"/>
              <a:t>dello</a:t>
            </a:r>
            <a:r>
              <a:rPr dirty="0"/>
              <a:t> </a:t>
            </a:r>
            <a:r>
              <a:rPr dirty="0" err="1"/>
              <a:t>stesso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. </a:t>
            </a:r>
            <a:r>
              <a:rPr dirty="0" err="1"/>
              <a:t>Conservare</a:t>
            </a:r>
            <a:r>
              <a:rPr dirty="0"/>
              <a:t> il test set </a:t>
            </a:r>
            <a:r>
              <a:rPr dirty="0" err="1"/>
              <a:t>indipendente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dopo </a:t>
            </a:r>
            <a:r>
              <a:rPr dirty="0" err="1"/>
              <a:t>gli</a:t>
            </a:r>
            <a:r>
              <a:rPr dirty="0"/>
              <a:t> aggiornamenti di active learning.</a:t>
            </a:r>
          </a:p>
          <a:p>
            <a:r>
              <a:rPr dirty="0" err="1"/>
              <a:t>Tolleranze</a:t>
            </a:r>
            <a:r>
              <a:rPr dirty="0"/>
              <a:t>: linewidth, gap, </a:t>
            </a:r>
            <a:r>
              <a:rPr dirty="0" err="1"/>
              <a:t>spessore</a:t>
            </a:r>
            <a:r>
              <a:rPr dirty="0"/>
              <a:t> e </a:t>
            </a:r>
            <a:r>
              <a:rPr dirty="0" err="1"/>
              <a:t>permittività</a:t>
            </a:r>
            <a:r>
              <a:rPr dirty="0"/>
              <a:t>, con </a:t>
            </a:r>
            <a:r>
              <a:rPr dirty="0" err="1"/>
              <a:t>distribuzioni</a:t>
            </a:r>
            <a:r>
              <a:rPr dirty="0"/>
              <a:t>/</a:t>
            </a:r>
            <a:r>
              <a:rPr dirty="0" err="1"/>
              <a:t>correlazioni</a:t>
            </a:r>
            <a:r>
              <a:rPr dirty="0"/>
              <a:t> </a:t>
            </a:r>
            <a:r>
              <a:rPr dirty="0" err="1"/>
              <a:t>dichiarate</a:t>
            </a:r>
            <a:r>
              <a:rPr dirty="0"/>
              <a:t>. Per il </a:t>
            </a:r>
            <a:r>
              <a:rPr dirty="0" err="1"/>
              <a:t>confronto</a:t>
            </a:r>
            <a:r>
              <a:rPr dirty="0"/>
              <a:t> Monte Carlo </a:t>
            </a:r>
            <a:r>
              <a:rPr dirty="0" err="1"/>
              <a:t>usare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numerosità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consenta</a:t>
            </a:r>
            <a:r>
              <a:rPr dirty="0"/>
              <a:t> intervalli di </a:t>
            </a:r>
            <a:r>
              <a:rPr dirty="0" err="1"/>
              <a:t>confidenza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stretti della </a:t>
            </a:r>
            <a:r>
              <a:rPr dirty="0" err="1"/>
              <a:t>soglia</a:t>
            </a:r>
            <a:r>
              <a:rPr dirty="0"/>
              <a:t> di </a:t>
            </a:r>
            <a:r>
              <a:rPr dirty="0" err="1"/>
              <a:t>errore</a:t>
            </a:r>
            <a:r>
              <a:rPr dirty="0"/>
              <a:t> </a:t>
            </a:r>
            <a:r>
              <a:rPr dirty="0" err="1"/>
              <a:t>sullo</a:t>
            </a:r>
            <a:r>
              <a:rPr dirty="0"/>
              <a:t> yield e </a:t>
            </a:r>
            <a:r>
              <a:rPr dirty="0" err="1"/>
              <a:t>distinguere</a:t>
            </a:r>
            <a:r>
              <a:rPr dirty="0"/>
              <a:t> </a:t>
            </a:r>
            <a:r>
              <a:rPr dirty="0" err="1"/>
              <a:t>errore</a:t>
            </a:r>
            <a:r>
              <a:rPr dirty="0"/>
              <a:t> </a:t>
            </a:r>
            <a:r>
              <a:rPr dirty="0" err="1"/>
              <a:t>statistico</a:t>
            </a:r>
            <a:r>
              <a:rPr dirty="0"/>
              <a:t> da </a:t>
            </a:r>
            <a:r>
              <a:rPr dirty="0" err="1"/>
              <a:t>errore</a:t>
            </a:r>
            <a:r>
              <a:rPr dirty="0"/>
              <a:t> del surrogate. </a:t>
            </a:r>
            <a:r>
              <a:rPr dirty="0" err="1"/>
              <a:t>Controlli</a:t>
            </a:r>
            <a:r>
              <a:rPr dirty="0"/>
              <a:t> </a:t>
            </a:r>
            <a:r>
              <a:rPr dirty="0" err="1"/>
              <a:t>casuali</a:t>
            </a:r>
            <a:r>
              <a:rPr dirty="0"/>
              <a:t> </a:t>
            </a:r>
            <a:r>
              <a:rPr dirty="0" err="1"/>
              <a:t>servono</a:t>
            </a:r>
            <a:r>
              <a:rPr dirty="0"/>
              <a:t> per </a:t>
            </a:r>
            <a:r>
              <a:rPr dirty="0" err="1"/>
              <a:t>stimare</a:t>
            </a:r>
            <a:r>
              <a:rPr dirty="0"/>
              <a:t> </a:t>
            </a:r>
            <a:r>
              <a:rPr dirty="0" err="1"/>
              <a:t>errore</a:t>
            </a:r>
            <a:r>
              <a:rPr dirty="0"/>
              <a:t> senza bias; </a:t>
            </a:r>
            <a:r>
              <a:rPr dirty="0" err="1"/>
              <a:t>controlli</a:t>
            </a:r>
            <a:r>
              <a:rPr dirty="0"/>
              <a:t> </a:t>
            </a:r>
            <a:r>
              <a:rPr dirty="0" err="1"/>
              <a:t>mirati</a:t>
            </a:r>
            <a:r>
              <a:rPr dirty="0"/>
              <a:t> </a:t>
            </a:r>
            <a:r>
              <a:rPr dirty="0" err="1"/>
              <a:t>servono</a:t>
            </a:r>
            <a:r>
              <a:rPr dirty="0"/>
              <a:t> a </a:t>
            </a:r>
            <a:r>
              <a:rPr dirty="0" err="1"/>
              <a:t>cercare</a:t>
            </a:r>
            <a:r>
              <a:rPr dirty="0"/>
              <a:t> failure modes. </a:t>
            </a:r>
            <a:r>
              <a:rPr dirty="0" err="1"/>
              <a:t>Verificare</a:t>
            </a:r>
            <a:r>
              <a:rPr dirty="0"/>
              <a:t> </a:t>
            </a:r>
            <a:r>
              <a:rPr dirty="0" err="1"/>
              <a:t>convergenza</a:t>
            </a:r>
            <a:r>
              <a:rPr dirty="0"/>
              <a:t> della mesh e </a:t>
            </a:r>
            <a:r>
              <a:rPr dirty="0" err="1"/>
              <a:t>risoluzione</a:t>
            </a:r>
            <a:r>
              <a:rPr dirty="0"/>
              <a:t> in </a:t>
            </a:r>
            <a:r>
              <a:rPr dirty="0" err="1"/>
              <a:t>frequenza</a:t>
            </a:r>
            <a:r>
              <a:rPr dirty="0"/>
              <a:t>, </a:t>
            </a:r>
            <a:r>
              <a:rPr dirty="0" err="1"/>
              <a:t>specialmente</a:t>
            </a:r>
            <a:r>
              <a:rPr dirty="0"/>
              <a:t> </a:t>
            </a:r>
            <a:r>
              <a:rPr dirty="0" err="1"/>
              <a:t>vicino</a:t>
            </a:r>
            <a:r>
              <a:rPr dirty="0"/>
              <a:t> alle </a:t>
            </a:r>
            <a:r>
              <a:rPr dirty="0" err="1"/>
              <a:t>risonanze</a:t>
            </a:r>
            <a:r>
              <a:rPr dirty="0"/>
              <a:t>. </a:t>
            </a:r>
            <a:r>
              <a:rPr dirty="0" err="1"/>
              <a:t>Misure</a:t>
            </a:r>
            <a:r>
              <a:rPr dirty="0"/>
              <a:t> di un </a:t>
            </a:r>
            <a:r>
              <a:rPr dirty="0" err="1"/>
              <a:t>prototipo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</a:t>
            </a:r>
            <a:r>
              <a:rPr dirty="0" err="1"/>
              <a:t>opzionale</a:t>
            </a:r>
            <a:r>
              <a:rPr dirty="0"/>
              <a:t> </a:t>
            </a:r>
            <a:r>
              <a:rPr dirty="0" err="1"/>
              <a:t>successiva</a:t>
            </a:r>
            <a:r>
              <a:rPr dirty="0"/>
              <a:t>, non un </a:t>
            </a:r>
            <a:r>
              <a:rPr dirty="0" err="1"/>
              <a:t>requisito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</a:t>
            </a:r>
            <a:r>
              <a:rPr dirty="0" err="1"/>
              <a:t>soddisfatto</a:t>
            </a:r>
            <a:r>
              <a:rPr dirty="0"/>
              <a:t>.</a:t>
            </a:r>
          </a:p>
          <a:p>
            <a:r>
              <a:rPr dirty="0"/>
              <a:t>Rischi e </a:t>
            </a:r>
            <a:r>
              <a:rPr dirty="0" err="1"/>
              <a:t>decisioni</a:t>
            </a:r>
            <a:r>
              <a:rPr dirty="0"/>
              <a:t>: se la PINN non </a:t>
            </a:r>
            <a:r>
              <a:rPr dirty="0" err="1"/>
              <a:t>batte</a:t>
            </a:r>
            <a:r>
              <a:rPr dirty="0"/>
              <a:t> GPR/Neuro-TF a budget </a:t>
            </a:r>
            <a:r>
              <a:rPr dirty="0" err="1"/>
              <a:t>comparabile</a:t>
            </a:r>
            <a:r>
              <a:rPr dirty="0"/>
              <a:t>, </a:t>
            </a:r>
            <a:r>
              <a:rPr dirty="0" err="1"/>
              <a:t>documentare</a:t>
            </a:r>
            <a:r>
              <a:rPr dirty="0"/>
              <a:t> il </a:t>
            </a:r>
            <a:r>
              <a:rPr dirty="0" err="1"/>
              <a:t>risultato</a:t>
            </a:r>
            <a:r>
              <a:rPr dirty="0"/>
              <a:t> e </a:t>
            </a:r>
            <a:r>
              <a:rPr dirty="0" err="1"/>
              <a:t>conservare</a:t>
            </a:r>
            <a:r>
              <a:rPr dirty="0"/>
              <a:t> il </a:t>
            </a:r>
            <a:r>
              <a:rPr dirty="0" err="1"/>
              <a:t>modello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semplice. Se </a:t>
            </a:r>
            <a:r>
              <a:rPr dirty="0" err="1"/>
              <a:t>l’incertezza</a:t>
            </a:r>
            <a:r>
              <a:rPr dirty="0"/>
              <a:t> è </a:t>
            </a:r>
            <a:r>
              <a:rPr dirty="0" err="1"/>
              <a:t>scorretta</a:t>
            </a:r>
            <a:r>
              <a:rPr dirty="0"/>
              <a:t>, </a:t>
            </a:r>
            <a:r>
              <a:rPr dirty="0" err="1"/>
              <a:t>aumentare</a:t>
            </a:r>
            <a:r>
              <a:rPr dirty="0"/>
              <a:t> audit full-wave e </a:t>
            </a:r>
            <a:r>
              <a:rPr dirty="0" err="1"/>
              <a:t>calibrazione</a:t>
            </a:r>
            <a:r>
              <a:rPr lang="it-IT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Stato dell’arte </a:t>
            </a:r>
            <a:r>
              <a:rPr dirty="0" err="1"/>
              <a:t>verificato</a:t>
            </a:r>
            <a:r>
              <a:rPr dirty="0"/>
              <a:t> al 28 </a:t>
            </a:r>
            <a:r>
              <a:rPr dirty="0" err="1"/>
              <a:t>settembre</a:t>
            </a:r>
            <a:r>
              <a:rPr dirty="0"/>
              <a:t> 2026. La </a:t>
            </a:r>
            <a:r>
              <a:rPr dirty="0" err="1"/>
              <a:t>tabella</a:t>
            </a:r>
            <a:r>
              <a:rPr dirty="0"/>
              <a:t> </a:t>
            </a:r>
            <a:r>
              <a:rPr dirty="0" err="1"/>
              <a:t>descrive</a:t>
            </a:r>
            <a:r>
              <a:rPr dirty="0"/>
              <a:t> </a:t>
            </a:r>
            <a:r>
              <a:rPr dirty="0" err="1"/>
              <a:t>capacità</a:t>
            </a:r>
            <a:r>
              <a:rPr dirty="0"/>
              <a:t> </a:t>
            </a:r>
            <a:r>
              <a:rPr dirty="0" err="1"/>
              <a:t>già</a:t>
            </a:r>
            <a:r>
              <a:rPr dirty="0"/>
              <a:t> </a:t>
            </a:r>
            <a:r>
              <a:rPr dirty="0" err="1"/>
              <a:t>dimostrate</a:t>
            </a:r>
            <a:r>
              <a:rPr dirty="0"/>
              <a:t> e le </a:t>
            </a:r>
            <a:r>
              <a:rPr dirty="0" err="1"/>
              <a:t>differenze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intendiamo</a:t>
            </a:r>
            <a:r>
              <a:rPr dirty="0"/>
              <a:t> </a:t>
            </a:r>
            <a:r>
              <a:rPr dirty="0" err="1"/>
              <a:t>implementare</a:t>
            </a:r>
            <a:r>
              <a:rPr dirty="0"/>
              <a:t> o </a:t>
            </a:r>
            <a:r>
              <a:rPr dirty="0" err="1"/>
              <a:t>confrontare</a:t>
            </a:r>
            <a:r>
              <a:rPr dirty="0"/>
              <a:t>. Non </a:t>
            </a:r>
            <a:r>
              <a:rPr dirty="0" err="1"/>
              <a:t>sostiene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lavori</a:t>
            </a:r>
            <a:r>
              <a:rPr dirty="0"/>
              <a:t> </a:t>
            </a:r>
            <a:r>
              <a:rPr dirty="0" err="1"/>
              <a:t>citati</a:t>
            </a:r>
            <a:r>
              <a:rPr dirty="0"/>
              <a:t> </a:t>
            </a:r>
            <a:r>
              <a:rPr dirty="0" err="1"/>
              <a:t>siano</a:t>
            </a:r>
            <a:r>
              <a:rPr dirty="0"/>
              <a:t> </a:t>
            </a:r>
            <a:r>
              <a:rPr dirty="0" err="1"/>
              <a:t>privi</a:t>
            </a:r>
            <a:r>
              <a:rPr dirty="0"/>
              <a:t> di </a:t>
            </a:r>
            <a:r>
              <a:rPr dirty="0" err="1"/>
              <a:t>vincoli</a:t>
            </a:r>
            <a:r>
              <a:rPr dirty="0"/>
              <a:t>, </a:t>
            </a:r>
            <a:r>
              <a:rPr dirty="0" err="1"/>
              <a:t>fisica</a:t>
            </a:r>
            <a:r>
              <a:rPr dirty="0"/>
              <a:t> o active learning. [1] </a:t>
            </a:r>
            <a:r>
              <a:rPr dirty="0" err="1"/>
              <a:t>affronta</a:t>
            </a:r>
            <a:r>
              <a:rPr dirty="0"/>
              <a:t> </a:t>
            </a:r>
            <a:r>
              <a:rPr dirty="0" err="1"/>
              <a:t>dimensionalità</a:t>
            </a:r>
            <a:r>
              <a:rPr dirty="0"/>
              <a:t> e </a:t>
            </a:r>
            <a:r>
              <a:rPr dirty="0" err="1"/>
              <a:t>confina</a:t>
            </a:r>
            <a:r>
              <a:rPr dirty="0"/>
              <a:t> il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</a:t>
            </a:r>
            <a:r>
              <a:rPr dirty="0" err="1"/>
              <a:t>sensitività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 e pre-screening. [2] introduce </a:t>
            </a:r>
            <a:r>
              <a:rPr dirty="0" err="1"/>
              <a:t>informazioni</a:t>
            </a:r>
            <a:r>
              <a:rPr dirty="0"/>
              <a:t> di </a:t>
            </a:r>
            <a:r>
              <a:rPr dirty="0" err="1"/>
              <a:t>sensitività</a:t>
            </a:r>
            <a:r>
              <a:rPr dirty="0"/>
              <a:t> EM </a:t>
            </a:r>
            <a:r>
              <a:rPr dirty="0" err="1"/>
              <a:t>nel</a:t>
            </a:r>
            <a:r>
              <a:rPr dirty="0"/>
              <a:t> surrogate Neuro-TF </a:t>
            </a:r>
            <a:r>
              <a:rPr dirty="0" err="1"/>
              <a:t>basato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poli/</a:t>
            </a:r>
            <a:r>
              <a:rPr dirty="0" err="1"/>
              <a:t>zeri</a:t>
            </a:r>
            <a:r>
              <a:rPr dirty="0"/>
              <a:t> e feature. [3] è il </a:t>
            </a:r>
            <a:r>
              <a:rPr dirty="0" err="1"/>
              <a:t>confronto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vicino</a:t>
            </a:r>
            <a:r>
              <a:rPr dirty="0"/>
              <a:t> per lo yield: GPR, </a:t>
            </a:r>
            <a:r>
              <a:rPr dirty="0" err="1"/>
              <a:t>indicatori</a:t>
            </a:r>
            <a:r>
              <a:rPr dirty="0"/>
              <a:t> di </a:t>
            </a:r>
            <a:r>
              <a:rPr dirty="0" err="1"/>
              <a:t>errore</a:t>
            </a:r>
            <a:r>
              <a:rPr dirty="0"/>
              <a:t> e </a:t>
            </a:r>
            <a:r>
              <a:rPr dirty="0" err="1"/>
              <a:t>rivalutazione</a:t>
            </a:r>
            <a:r>
              <a:rPr dirty="0"/>
              <a:t> full-wave </a:t>
            </a:r>
            <a:r>
              <a:rPr dirty="0" err="1"/>
              <a:t>selettiva</a:t>
            </a:r>
            <a:r>
              <a:rPr dirty="0"/>
              <a:t> di </a:t>
            </a:r>
            <a:r>
              <a:rPr dirty="0" err="1"/>
              <a:t>campioni</a:t>
            </a:r>
            <a:r>
              <a:rPr dirty="0"/>
              <a:t> Monte Carlo. La </a:t>
            </a:r>
            <a:r>
              <a:rPr dirty="0" err="1"/>
              <a:t>rivalutazione</a:t>
            </a:r>
            <a:r>
              <a:rPr dirty="0"/>
              <a:t> </a:t>
            </a:r>
            <a:r>
              <a:rPr dirty="0" err="1"/>
              <a:t>selettiva</a:t>
            </a:r>
            <a:r>
              <a:rPr dirty="0"/>
              <a:t> non è </a:t>
            </a:r>
            <a:r>
              <a:rPr dirty="0" err="1"/>
              <a:t>una</a:t>
            </a:r>
            <a:r>
              <a:rPr dirty="0"/>
              <a:t> nostra </a:t>
            </a:r>
            <a:r>
              <a:rPr dirty="0" err="1"/>
              <a:t>novità</a:t>
            </a:r>
            <a:r>
              <a:rPr dirty="0"/>
              <a:t>. [4] </a:t>
            </a:r>
            <a:r>
              <a:rPr dirty="0" err="1"/>
              <a:t>fornisce</a:t>
            </a:r>
            <a:r>
              <a:rPr dirty="0"/>
              <a:t> un </a:t>
            </a:r>
            <a:r>
              <a:rPr dirty="0" err="1"/>
              <a:t>precedente</a:t>
            </a:r>
            <a:r>
              <a:rPr dirty="0"/>
              <a:t> per inverse design con PINN e </a:t>
            </a:r>
            <a:r>
              <a:rPr dirty="0" err="1"/>
              <a:t>vincoli</a:t>
            </a:r>
            <a:r>
              <a:rPr dirty="0"/>
              <a:t>, con </a:t>
            </a:r>
            <a:r>
              <a:rPr dirty="0" err="1"/>
              <a:t>dimostrazioni</a:t>
            </a:r>
            <a:r>
              <a:rPr dirty="0"/>
              <a:t> in </a:t>
            </a:r>
            <a:r>
              <a:rPr dirty="0" err="1"/>
              <a:t>ottica</a:t>
            </a:r>
            <a:r>
              <a:rPr dirty="0"/>
              <a:t> e </a:t>
            </a:r>
            <a:r>
              <a:rPr dirty="0" err="1"/>
              <a:t>flusso</a:t>
            </a:r>
            <a:r>
              <a:rPr dirty="0"/>
              <a:t> di Stokes; non è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PINN </a:t>
            </a:r>
            <a:r>
              <a:rPr dirty="0" err="1"/>
              <a:t>parametrica</a:t>
            </a:r>
            <a:r>
              <a:rPr dirty="0"/>
              <a:t> </a:t>
            </a:r>
            <a:r>
              <a:rPr dirty="0" err="1"/>
              <a:t>sia</a:t>
            </a:r>
            <a:r>
              <a:rPr dirty="0"/>
              <a:t> </a:t>
            </a:r>
            <a:r>
              <a:rPr dirty="0" err="1"/>
              <a:t>superiore</a:t>
            </a:r>
            <a:r>
              <a:rPr dirty="0"/>
              <a:t> per </a:t>
            </a:r>
            <a:r>
              <a:rPr dirty="0" err="1"/>
              <a:t>filtri</a:t>
            </a:r>
            <a:r>
              <a:rPr dirty="0"/>
              <a:t> microstrip.</a:t>
            </a:r>
            <a:endParaRPr lang="it-IT" dirty="0"/>
          </a:p>
          <a:p>
            <a:r>
              <a:rPr dirty="0"/>
              <a:t>[1] S. Koziel and A. </a:t>
            </a:r>
            <a:r>
              <a:rPr dirty="0" err="1"/>
              <a:t>Pietrenko</a:t>
            </a:r>
            <a:r>
              <a:rPr dirty="0"/>
              <a:t>-Dabrowska, Accurate modeling of microwave structures in constrained domains using global sensitivity analysis and performance-based pre-screening. Scientific Reports 15, 43073 (2025). https://doi.org/10.1038/s41598-025-27085-8</a:t>
            </a:r>
          </a:p>
          <a:p>
            <a:r>
              <a:rPr dirty="0"/>
              <a:t>[2] F. Feng et al., Feature and EM Sensitivity Co-Assisted Neuro-TF Surrogate Optimization for Microwave Filter Design. IEEE Transactions on Microwave Theory and Techniques 71(11), 4749–4761 (2023). https://doi.org/10.1109/TMTT.2023.3275232</a:t>
            </a:r>
          </a:p>
          <a:p>
            <a:r>
              <a:rPr dirty="0"/>
              <a:t>[3] M. </a:t>
            </a:r>
            <a:r>
              <a:rPr dirty="0" err="1"/>
              <a:t>Fuhrländer</a:t>
            </a:r>
            <a:r>
              <a:rPr dirty="0"/>
              <a:t> and S. </a:t>
            </a:r>
            <a:r>
              <a:rPr dirty="0" err="1"/>
              <a:t>Schöps</a:t>
            </a:r>
            <a:r>
              <a:rPr dirty="0"/>
              <a:t>, A </a:t>
            </a:r>
            <a:r>
              <a:rPr dirty="0" err="1"/>
              <a:t>blackbox</a:t>
            </a:r>
            <a:r>
              <a:rPr dirty="0"/>
              <a:t> yield estimation workflow with Gaussian process regression applied to the design of electromagnetic devices. Journal of Mathematics in Industry 10, 25 (2020). https://doi.org/10.1186/s13362-020-00093-1</a:t>
            </a:r>
          </a:p>
          <a:p>
            <a:r>
              <a:rPr dirty="0"/>
              <a:t>[4] L. Lu et al., Physics-Informed Neural Networks with Hard Constraints for Inverse Design. SIAM Journal on Scientific Computing 43(6), B1105–B1132 (2021). https://doi.org/10.1137/21M1397908</a:t>
            </a:r>
          </a:p>
          <a:p>
            <a:r>
              <a:rPr dirty="0" err="1"/>
              <a:t>Ulteriore</a:t>
            </a:r>
            <a:r>
              <a:rPr dirty="0"/>
              <a:t> </a:t>
            </a:r>
            <a:r>
              <a:rPr dirty="0" err="1"/>
              <a:t>inquadramento</a:t>
            </a:r>
            <a:r>
              <a:rPr dirty="0"/>
              <a:t> neuro-</a:t>
            </a:r>
            <a:r>
              <a:rPr dirty="0" err="1"/>
              <a:t>simbolico</a:t>
            </a:r>
            <a:r>
              <a:rPr dirty="0"/>
              <a:t>: J. J. Sun et al., </a:t>
            </a:r>
            <a:r>
              <a:rPr dirty="0" err="1"/>
              <a:t>Neurosymbolic</a:t>
            </a:r>
            <a:r>
              <a:rPr dirty="0"/>
              <a:t> Programming for Science (2022), https://arxiv.org/abs/2210.05050 .</a:t>
            </a:r>
          </a:p>
          <a:p>
            <a:r>
              <a:rPr dirty="0" err="1"/>
              <a:t>Materiali</a:t>
            </a:r>
            <a:r>
              <a:rPr dirty="0"/>
              <a:t> di </a:t>
            </a:r>
            <a:r>
              <a:rPr dirty="0" err="1"/>
              <a:t>indirizzo</a:t>
            </a:r>
            <a:r>
              <a:rPr dirty="0"/>
              <a:t>: F. Verni, Tech Arena 2026 Topic 3, briefing </a:t>
            </a:r>
            <a:r>
              <a:rPr dirty="0" err="1"/>
              <a:t>fornito</a:t>
            </a:r>
            <a:r>
              <a:rPr dirty="0"/>
              <a:t> </a:t>
            </a:r>
            <a:r>
              <a:rPr dirty="0" err="1"/>
              <a:t>dall’utente</a:t>
            </a:r>
            <a:r>
              <a:rPr dirty="0"/>
              <a:t>; Huawei </a:t>
            </a:r>
            <a:r>
              <a:rPr dirty="0" err="1"/>
              <a:t>TechArena</a:t>
            </a:r>
            <a:r>
              <a:rPr dirty="0"/>
              <a:t> 2026 Topics, p. 4. I </a:t>
            </a:r>
            <a:r>
              <a:rPr dirty="0" err="1"/>
              <a:t>risultati</a:t>
            </a:r>
            <a:r>
              <a:rPr dirty="0"/>
              <a:t> </a:t>
            </a:r>
            <a:r>
              <a:rPr dirty="0" err="1"/>
              <a:t>riportati</a:t>
            </a:r>
            <a:r>
              <a:rPr dirty="0"/>
              <a:t> </a:t>
            </a:r>
            <a:r>
              <a:rPr dirty="0" err="1"/>
              <a:t>nella</a:t>
            </a:r>
            <a:r>
              <a:rPr dirty="0"/>
              <a:t> </a:t>
            </a:r>
            <a:r>
              <a:rPr dirty="0" err="1"/>
              <a:t>letteratura</a:t>
            </a:r>
            <a:r>
              <a:rPr dirty="0"/>
              <a:t> non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trasferiti</a:t>
            </a:r>
            <a:r>
              <a:rPr dirty="0"/>
              <a:t> come </a:t>
            </a:r>
            <a:r>
              <a:rPr dirty="0" err="1"/>
              <a:t>promesse</a:t>
            </a:r>
            <a:r>
              <a:rPr dirty="0"/>
              <a:t> quantitative al nostro </a:t>
            </a:r>
            <a:r>
              <a:rPr dirty="0" err="1"/>
              <a:t>progetto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rcRect l="5535" r="553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D01ED-C930-5004-42CE-54A45354F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52729"/>
            <a:ext cx="9144000" cy="703153"/>
          </a:xfrm>
        </p:spPr>
        <p:txBody>
          <a:bodyPr anchor="ctr">
            <a:normAutofit/>
          </a:bodyPr>
          <a:lstStyle>
            <a:lvl1pPr algn="ctr"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CA286-79EA-82C6-39E8-61C19320A8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843C-1C17-9E80-0172-045C1372F1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  <p:pic>
        <p:nvPicPr>
          <p:cNvPr id="14" name="Picture 6"/>
          <p:cNvPicPr>
            <a:picLocks noChangeAspect="1"/>
          </p:cNvPicPr>
          <p:nvPr/>
        </p:nvPicPr>
        <p:blipFill>
          <a:blip r:embed="rId3"/>
          <a:srcRect b="33575"/>
          <a:stretch/>
        </p:blipFill>
        <p:spPr>
          <a:xfrm>
            <a:off x="2526621" y="1449976"/>
            <a:ext cx="7138757" cy="154483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3F065C4-FE05-262F-3BAD-94D69C0E55B4}"/>
              </a:ext>
            </a:extLst>
          </p:cNvPr>
          <p:cNvSpPr>
            <a:spLocks noGrp="1"/>
          </p:cNvSpPr>
          <p:nvPr/>
        </p:nvSpPr>
        <p:spPr>
          <a:xfrm>
            <a:off x="5032267" y="2771744"/>
            <a:ext cx="2127463" cy="9610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stronomus"/>
                <a:ea typeface="Astronomus"/>
                <a:cs typeface="Astronomus"/>
              </a:defRPr>
            </a:lvl1pPr>
          </a:lstStyle>
          <a:p>
            <a:r>
              <a:rPr sz="3200">
                <a:solidFill>
                  <a:schemeClr val="tx1">
                    <a:lumMod val="65000"/>
                    <a:lumOff val="35000"/>
                  </a:schemeClr>
                </a:solidFill>
              </a:rPr>
              <a:t>Italy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6" name="Immagin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063" y="6335486"/>
            <a:ext cx="1281498" cy="3651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2CD2-5EEB-C6F0-FCD5-53372D97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2D40F-FB5E-8152-1630-A4B884960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8BBE-3B49-358B-67DB-B498AE904F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1C727-C7CF-08D6-731A-80578975C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A81E-24C8-20BC-F5E7-2C4CFF87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0B1ED-6915-6E9D-7FA2-1A8A1E463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F733-A443-1D1C-4084-70B6F614D0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DD18-7CF5-CB61-063C-A95C2677DE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0CB6-16DF-F6C4-63D3-322C7D3A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1146-7924-7E43-FC32-923E48906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D5195-A611-C9DA-6A6F-E5C942F8DF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5BB0B-C073-9357-6D22-13D0E634F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1FD3CF5-DF71-7852-63FE-C141D817813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72202" y="1825625"/>
            <a:ext cx="5183186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F9D2-187D-4583-3870-094CA0F6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288B3-30E8-BB4B-D96C-2AD14AA74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AEF2F-417B-6E77-7700-EB20EB81F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5B9FC-3711-D566-926A-7B3F3BAB344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D572B-C01D-3158-B978-6B79A6C2587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3E8B5-D52F-C8AD-FCD2-2F61CBE7A9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2C6C4-6F27-AC9F-2E6E-989B16D890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14F1-102D-07B1-3E8C-8B06B954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EA98B-D0FE-F856-D696-451473850A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CBFDE-2EDD-D717-EBE3-476ECAEE69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09FF5-1265-EE9E-5D7E-CA9112A46F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B7B3F-13E1-E9B6-2CB9-D2A52C13B9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8DAA-D051-6558-7781-F9C09810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A01E5-D061-81B2-5A9A-A9C5E172B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0B0B3-00F2-21E5-9206-54ECCE0AE2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7C7CE-11DA-977F-66D6-7AA72C7F04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8EF9A-158C-E10F-242F-FCCAF48D16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FC4E-4E85-BBB4-BC94-77AA494E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8709-382C-8750-0D81-71BBEE9EE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97044-9FAC-3DF5-7FB4-FC5E0A907BA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0EABE-177A-55E4-70C5-C1928A53C1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4003A-B6F8-E01A-19CA-8C52C19E4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FC4E-4E85-BBB4-BC94-77AA494EC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1092" y="1503320"/>
            <a:ext cx="4924908" cy="530225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Folder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8709-382C-8750-0D81-71BBEE9EE07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665443" y="1503321"/>
            <a:ext cx="41148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to add QR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97044-9FAC-3DF5-7FB4-FC5E0A907BA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71092" y="2401294"/>
            <a:ext cx="4924908" cy="29056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0EABE-177A-55E4-70C5-C1928A53C1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4003A-B6F8-E01A-19CA-8C52C19E4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D01ED-C930-5004-42CE-54A45354FB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180521"/>
            <a:ext cx="9144000" cy="703153"/>
          </a:xfrm>
        </p:spPr>
        <p:txBody>
          <a:bodyPr anchor="ctr">
            <a:noAutofit/>
          </a:bodyPr>
          <a:lstStyle>
            <a:lvl1pPr algn="ctr">
              <a:buNone/>
              <a:defRPr sz="6000"/>
            </a:lvl1pPr>
          </a:lstStyle>
          <a:p>
            <a:r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CA286-79EA-82C6-39E8-61C19320A8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843C-1C17-9E80-0172-045C1372F1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1D32A2-C957-7B4B-85B1-BAB13D3C7546}" type="slidenum">
              <a:t>‹N›</a:t>
            </a:fld>
            <a:endParaRPr/>
          </a:p>
        </p:txBody>
      </p:sp>
      <p:pic>
        <p:nvPicPr>
          <p:cNvPr id="14" name="Picture 8"/>
          <p:cNvPicPr>
            <a:picLocks noChangeAspect="1"/>
          </p:cNvPicPr>
          <p:nvPr/>
        </p:nvPicPr>
        <p:blipFill>
          <a:blip r:embed="rId3"/>
          <a:srcRect b="39734"/>
          <a:stretch/>
        </p:blipFill>
        <p:spPr>
          <a:xfrm>
            <a:off x="4305300" y="1713685"/>
            <a:ext cx="3581400" cy="703153"/>
          </a:xfrm>
          <a:prstGeom prst="rect">
            <a:avLst/>
          </a:prstGeom>
        </p:spPr>
      </p:pic>
      <p:pic>
        <p:nvPicPr>
          <p:cNvPr id="15" name="Immagin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063" y="6324600"/>
            <a:ext cx="1281498" cy="3651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/>
          <a:srcRect l="5535" r="5535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15A62-518B-455C-AA33-12CE63E8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D936-E096-5353-4ECA-35FF46E53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876FF-5F22-6347-B398-6480BD7BAB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1">
                <a:solidFill>
                  <a:schemeClr val="tx1">
                    <a:tint val="82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C5AF-0961-6B72-A8C1-3E042247F1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fld id="{BD1D32A2-C957-7B4B-85B1-BAB13D3C7546}" type="slidenum">
              <a:t>‹N›</a:t>
            </a:fld>
            <a:endParaRPr/>
          </a:p>
        </p:txBody>
      </p:sp>
      <p:pic>
        <p:nvPicPr>
          <p:cNvPr id="14" name="Immagin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2063" y="6324600"/>
            <a:ext cx="1281498" cy="3651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stronomus"/>
          <a:ea typeface="Astronomus"/>
          <a:cs typeface="Astronomu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Open Sans"/>
          <a:ea typeface="Open Sans"/>
          <a:cs typeface="Open San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Open Sans"/>
          <a:ea typeface="Open Sans"/>
          <a:cs typeface="Open San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Open Sans"/>
          <a:ea typeface="Open Sans"/>
          <a:cs typeface="Open San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Open Sans"/>
          <a:ea typeface="Open Sans"/>
          <a:cs typeface="Open San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Open Sans"/>
          <a:ea typeface="Open Sans"/>
          <a:cs typeface="Open San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5-27085-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137/21M1397908" TargetMode="External"/><Relationship Id="rId5" Type="http://schemas.openxmlformats.org/officeDocument/2006/relationships/hyperlink" Target="https://doi.org/10.1186/s13362-020-00093-1" TargetMode="External"/><Relationship Id="rId4" Type="http://schemas.openxmlformats.org/officeDocument/2006/relationships/hyperlink" Target="https://doi.org/10.1109/TMTT.2023.327523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A285-FBAD-73E2-1BFB-AA6BFAF95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400"/>
              </a:spcAft>
              <a:buNone/>
              <a:defRPr sz="3150" b="1">
                <a:solidFill>
                  <a:srgbClr val="123A4B"/>
                </a:solidFill>
                <a:latin typeface="Open Sans"/>
                <a:ea typeface="Open Sans"/>
                <a:cs typeface="Open Sans"/>
              </a:defRPr>
            </a:pPr>
            <a:r>
              <a:rPr sz="3150" b="1" dirty="0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Neuro-Symbolic </a:t>
            </a:r>
            <a:r>
              <a:rPr lang="it-IT" sz="3150" b="1" dirty="0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RF </a:t>
            </a:r>
            <a:r>
              <a:rPr lang="it-IT" sz="3150" b="1" dirty="0" err="1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Surrogates</a:t>
            </a:r>
            <a:r>
              <a:rPr lang="it-IT" sz="3150" b="1" dirty="0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 for </a:t>
            </a:r>
            <a:r>
              <a:rPr sz="3150" b="1" dirty="0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EM Design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852E761-766D-4421-B311-6A9371ED8442}"/>
              </a:ext>
            </a:extLst>
          </p:cNvPr>
          <p:cNvSpPr>
            <a:spLocks noGrp="1"/>
          </p:cNvSpPr>
          <p:nvPr/>
        </p:nvSpPr>
        <p:spPr>
          <a:xfrm>
            <a:off x="1524000" y="52959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lang="en-US" sz="2025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Sub-Topic 3 - Applications of AI to the modelling of EM problems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10014C3-EF65-434B-BDC4-AA9884565E42}"/>
              </a:ext>
            </a:extLst>
          </p:cNvPr>
          <p:cNvSpPr>
            <a:spLocks noGrp="1"/>
          </p:cNvSpPr>
          <p:nvPr/>
        </p:nvSpPr>
        <p:spPr>
          <a:xfrm>
            <a:off x="1524000" y="58102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>
                <a:solidFill>
                  <a:srgbClr val="555555"/>
                </a:solidFill>
                <a:latin typeface="Open Sans"/>
                <a:ea typeface="Open Sans"/>
                <a:cs typeface="Open Sans"/>
              </a:defRPr>
            </a:pPr>
            <a:r>
              <a:rPr lang="en-US" sz="1425" b="1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Luca Pulga - Nicholas Magi</a:t>
            </a:r>
          </a:p>
          <a:p>
            <a:pPr algn="ctr">
              <a:defRPr sz="1425">
                <a:solidFill>
                  <a:srgbClr val="555555"/>
                </a:solidFill>
                <a:latin typeface="Open Sans"/>
                <a:ea typeface="Open Sans"/>
                <a:cs typeface="Open Sans"/>
              </a:defRPr>
            </a:pPr>
            <a:endParaRPr lang="it-IT" sz="1425" dirty="0">
              <a:solidFill>
                <a:srgbClr val="555555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9327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13D42-14FC-6E96-EAE8-45D8843C13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78F75-8ADB-B57A-3E89-D1A803C59F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2</a:t>
            </a:fld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E6BB16D-13AF-12EB-F820-3BD26DAF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550"/>
            <a:ext cx="10515600" cy="1238250"/>
          </a:xfrm>
        </p:spPr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3450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450" b="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Neuro-Symbolic RF Surrogates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DE25745-5F3A-4794-3687-A2C18E59F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84" y="955675"/>
            <a:ext cx="96012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1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8B5E-16A8-A7DC-674F-F07333D8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238250"/>
          </a:xfrm>
        </p:spPr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3450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450" b="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Neuro-Symbolic RF Surrogates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F308-BB28-3D1F-4570-E15FBDB7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275"/>
            <a:ext cx="5162550" cy="404812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PROBLEM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Nonlinear resonances and many geometry variables make accurate EM surrogates costly to train.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Small errors near RF specification limits can change a tolerance pass/fail decision.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Goal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: </a:t>
            </a:r>
            <a:r>
              <a:rPr sz="2100" b="0" i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reduce simulation cost 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while </a:t>
            </a:r>
            <a:r>
              <a:rPr sz="2100" b="0" i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preserving response 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and </a:t>
            </a:r>
            <a:r>
              <a:rPr sz="2100" b="0" i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yield accuracy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7B7D49-BBF3-9F50-7801-587D53D271A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72200" y="1819275"/>
            <a:ext cx="5181600" cy="404812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CONCRETE DEMONSTRATOR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A three-resonator microstrip band-pass filter with fixed topology.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Six geometry variables, plus substrate thickness and permittivity. Predict the complex two-port S-matrix.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Evaluate fabrication yield and optimize nominal dimensions within manufacturing rules.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05DEC-8C8F-A165-FAED-A7E6C23BC9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5359-E2C6-65B4-8891-E32AAECE2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6653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6198-F809-C67F-8A79-8BDF13E19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238250"/>
          </a:xfrm>
        </p:spPr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3450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450" b="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Implementable Maxwell-informed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F7DA5-BFB6-5C61-E1C0-585AC34A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275"/>
            <a:ext cx="5162550" cy="404812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PARAMETRIC FIELD NETWORK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Inputs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: position, frequency, geometry, materials and excited port.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A Fourier-feature MLP predicts real and imaginary E and H fields. Separate air/substrate branches handle interfaces.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Port-mode integration converts fields into complex S-parameters.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B378D-5778-A811-CECD-1742ABEDF6D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2200" y="1819275"/>
            <a:ext cx="5664896" cy="404812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TRAINING AND SOFTWARE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Loss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: complex S-data error + Maxwell residuals + port, boundary</a:t>
            </a:r>
            <a:r>
              <a:rPr lang="it-IT"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interface errors.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 dirty="0" err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PyTorch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2100" b="0" dirty="0" err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autodifferentiation</a:t>
            </a: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, a geometry/rule module and scripted HFSS or CST reference runs.</a:t>
            </a:r>
          </a:p>
          <a:p>
            <a:pPr marL="0" indent="0">
              <a:spcAft>
                <a:spcPts val="1100"/>
              </a:spcAft>
              <a:buNone/>
              <a:defRPr sz="21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100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Reuse the trained model over the declared parameter ranges. Verify final designs full-wave.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173BD-035C-5A1B-92DF-F652BC8A6F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EB7A1-13A5-6D33-2B55-42E6C89513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4</a:t>
            </a:fld>
            <a:endParaRPr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276CB9A-EEB4-4810-9A4F-3D165C20F92D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A53F17"/>
                </a:solidFill>
                <a:latin typeface="Open Sans"/>
                <a:ea typeface="Open Sans"/>
                <a:cs typeface="Open Sans"/>
              </a:defRPr>
            </a:pPr>
            <a:r>
              <a:rPr sz="1500" b="1" dirty="0">
                <a:solidFill>
                  <a:srgbClr val="A53F17"/>
                </a:solidFill>
                <a:latin typeface="Open Sans"/>
                <a:ea typeface="Open Sans"/>
                <a:cs typeface="Open Sans"/>
              </a:rPr>
              <a:t>Physics constraints guide learning; low residuals do not certify EM accuracy</a:t>
            </a:r>
            <a:r>
              <a:rPr lang="it-IT" sz="1500" b="1" dirty="0">
                <a:solidFill>
                  <a:srgbClr val="A53F17"/>
                </a:solidFill>
                <a:latin typeface="Open Sans"/>
                <a:ea typeface="Open Sans"/>
                <a:cs typeface="Open Sans"/>
              </a:rPr>
              <a:t>.</a:t>
            </a:r>
            <a:endParaRPr sz="1500" b="1" dirty="0">
              <a:solidFill>
                <a:srgbClr val="A53F17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2203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153E-1120-2C31-4AEA-1B4B1401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238250"/>
          </a:xfrm>
        </p:spPr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3450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450" b="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Proposed contribution: rule-guided 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06AD5-9391-5BAA-670B-695012E07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5925"/>
            <a:ext cx="5162550" cy="69532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4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400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Explicit rules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EFEF0-8C5F-3FAA-E149-78AE368471A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8200" y="2543175"/>
            <a:ext cx="5162550" cy="2952750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Geometry predicates encode connectivity, allowed materials, minimum widths and gaps.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RF predicates encode passband transmission, reflection and stopband limits.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Log the RF rule and frequency that triggered each full-wave evaluation.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24B5D-75A0-F060-AB02-2EC91546B2C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5925"/>
            <a:ext cx="5181600" cy="69532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40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400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Simulation decisions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83DAA-F912-E30C-16D7-FC882999C35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43175"/>
            <a:ext cx="5181600" cy="2952750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Reject invalid geometry before evaluation.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Rank feasible candidates by RF-margin uncertainty and normalized Maxwell residual.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Simulate priority cases, retain an exploration quota and retrain the model.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C337C6-6105-A90E-C752-8C220D1923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E8AD99-9FFB-4AD9-BC32-0A7F076B0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/>
              <a:t>5</a:t>
            </a:fld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D0400B-12F7-4481-BF5B-C6238E203A6B}"/>
              </a:ext>
            </a:extLst>
          </p:cNvPr>
          <p:cNvSpPr>
            <a:spLocks noGrp="1"/>
          </p:cNvSpPr>
          <p:nvPr/>
        </p:nvSpPr>
        <p:spPr>
          <a:xfrm>
            <a:off x="945976" y="5955473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123A4B"/>
                </a:solidFill>
                <a:latin typeface="Open Sans"/>
                <a:ea typeface="Open Sans"/>
                <a:cs typeface="Open Sans"/>
              </a:defRPr>
            </a:pPr>
            <a:r>
              <a:rPr sz="1500" b="1" dirty="0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Test added value over hybrid GPR [3]: RF-rule decisions + Maxwell-residual ranking.</a:t>
            </a:r>
          </a:p>
        </p:txBody>
      </p:sp>
    </p:spTree>
    <p:extLst>
      <p:ext uri="{BB962C8B-B14F-4D97-AF65-F5344CB8AC3E}">
        <p14:creationId xmlns:p14="http://schemas.microsoft.com/office/powerpoint/2010/main" val="3037575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20DD-3FF3-C0E0-9DF7-29E5FE06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76250"/>
            <a:ext cx="10515601" cy="1381125"/>
          </a:xfrm>
        </p:spPr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3450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450" b="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Data and validation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B6016-E763-22C1-7331-4DC747225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9225" y="2022475"/>
            <a:ext cx="6172200" cy="3429001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FAIR COMPARISONS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Benchmark FGSA + Kriging [1], Neuro-TF [2], hybrid GPR yield [3] and a PINN without rule-guided sampling.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Run identical tolerance distributions. Compare complex S error, yield and total compute cost.</a:t>
            </a:r>
          </a:p>
          <a:p>
            <a:pPr marL="0" indent="0">
              <a:spcAft>
                <a:spcPts val="1100"/>
              </a:spcAft>
              <a:buNone/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2025" b="0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Ablate the Maxwell loss and residual-based sampling separately. Audit false acceptance near RF limits.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E9186-D440-0295-B65B-E50FEFECE6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8200" y="2038350"/>
            <a:ext cx="4000500" cy="3952875"/>
          </a:xfrm>
        </p:spPr>
        <p:txBody>
          <a:bodyPr wrap="square" lIns="95250" tIns="57150" rIns="95250" bIns="5715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95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DATA CONTRACT</a:t>
            </a:r>
          </a:p>
          <a:p>
            <a:pPr marL="0" indent="0">
              <a:spcAft>
                <a:spcPts val="1100"/>
              </a:spcAft>
              <a:buNone/>
              <a:defRPr sz="195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950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Request CAD parameters, units, materials, port definitions and complex S sweeps.</a:t>
            </a:r>
          </a:p>
          <a:p>
            <a:pPr marL="0" indent="0">
              <a:spcAft>
                <a:spcPts val="1100"/>
              </a:spcAft>
              <a:buNone/>
              <a:defRPr sz="195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950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Use field exports when available. Split by geometry, never by frequency alone.</a:t>
            </a:r>
          </a:p>
          <a:p>
            <a:pPr marL="0" indent="0">
              <a:spcAft>
                <a:spcPts val="1100"/>
              </a:spcAft>
              <a:buNone/>
              <a:defRPr sz="195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950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Freeze an independent test set before adaptive training.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DDCDB-96AF-7D95-FE79-EFE5333DF9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EDF57-96BA-9AAC-D024-0A3E577F03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6</a:t>
            </a:fld>
            <a:endParaRPr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E53B290-5299-4ED6-A9C8-3D0CEE484477}"/>
              </a:ext>
            </a:extLst>
          </p:cNvPr>
          <p:cNvSpPr>
            <a:spLocks noGrp="1"/>
          </p:cNvSpPr>
          <p:nvPr/>
        </p:nvSpPr>
        <p:spPr>
          <a:xfrm>
            <a:off x="1427967" y="5953516"/>
            <a:ext cx="9925833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A53F17"/>
                </a:solidFill>
                <a:latin typeface="Open Sans"/>
                <a:ea typeface="Open Sans"/>
                <a:cs typeface="Open Sans"/>
              </a:defRPr>
            </a:pPr>
            <a:r>
              <a:rPr sz="1500" b="1" dirty="0">
                <a:solidFill>
                  <a:srgbClr val="A53F17"/>
                </a:solidFill>
                <a:latin typeface="Open Sans"/>
                <a:ea typeface="Open Sans"/>
                <a:cs typeface="Open Sans"/>
              </a:rPr>
              <a:t>Main risks: PINN convergence, </a:t>
            </a:r>
            <a:r>
              <a:rPr sz="1500" b="1" dirty="0" err="1">
                <a:solidFill>
                  <a:srgbClr val="A53F17"/>
                </a:solidFill>
                <a:latin typeface="Open Sans"/>
                <a:ea typeface="Open Sans"/>
                <a:cs typeface="Open Sans"/>
              </a:rPr>
              <a:t>miscalibrated</a:t>
            </a:r>
            <a:r>
              <a:rPr sz="1500" b="1" dirty="0">
                <a:solidFill>
                  <a:srgbClr val="A53F17"/>
                </a:solidFill>
                <a:latin typeface="Open Sans"/>
                <a:ea typeface="Open Sans"/>
                <a:cs typeface="Open Sans"/>
              </a:rPr>
              <a:t> uncertainty and training overhead.</a:t>
            </a:r>
          </a:p>
        </p:txBody>
      </p:sp>
    </p:spTree>
    <p:extLst>
      <p:ext uri="{BB962C8B-B14F-4D97-AF65-F5344CB8AC3E}">
        <p14:creationId xmlns:p14="http://schemas.microsoft.com/office/powerpoint/2010/main" val="159058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8B5E-16A8-A7DC-674F-F07333D8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10515600" cy="1238250"/>
          </a:xfrm>
        </p:spPr>
        <p:txBody>
          <a:bodyPr wrap="square" lIns="95250" tIns="57150" rIns="95250" bIns="57150" anchor="ctr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3450" b="0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3450" b="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State of the art and bibliography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05DEC-8C8F-A165-FAED-A7E6C23BC9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HUAWEI TECHARENA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5359-E2C6-65B4-8891-E32AAECE2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7</a:t>
            </a:fld>
            <a:endParaRPr/>
          </a:p>
        </p:txBody>
      </p:sp>
      <p:graphicFrame>
        <p:nvGraphicFramePr>
          <p:cNvPr id="18" name="Tabella 17"/>
          <p:cNvGraphicFramePr/>
          <p:nvPr/>
        </p:nvGraphicFramePr>
        <p:xfrm>
          <a:off x="933450" y="1704975"/>
          <a:ext cx="10325100" cy="253174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Existing approach</a:t>
                      </a:r>
                    </a:p>
                  </a:txBody>
                  <a:tcPr anchor="ctr">
                    <a:solidFill>
                      <a:srgbClr val="123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Established capability</a:t>
                      </a:r>
                    </a:p>
                  </a:txBody>
                  <a:tcPr anchor="ctr">
                    <a:solidFill>
                      <a:srgbClr val="123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Proposed extension / comparison</a:t>
                      </a:r>
                    </a:p>
                  </a:txBody>
                  <a:tcPr anchor="ctr">
                    <a:solidFill>
                      <a:srgbClr val="12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FGSA + Kriging [1]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Reduced-domain microwave modelling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Use as a data-efficient baseline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Neuro-TF [2]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Transfer functions + EM sensitivities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Compare against field-based Maxwell loss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Hybrid GPR yield [3]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Selective full-wave checks in Monte Carlo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Add RF predicates + physics-residual ranking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hPINNs [4]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PDE-constrained inverse design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22222"/>
                          </a:solidFill>
                          <a:latin typeface="Open Sans"/>
                          <a:ea typeface="Open Sans"/>
                          <a:cs typeface="Open Sans"/>
                        </a:rPr>
                        <a:t>Test a reusable parametric tolerance model</a:t>
                      </a:r>
                    </a:p>
                  </a:txBody>
                  <a:tcPr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ttangolo 7">
            <a:extLst>
              <a:ext uri="{FF2B5EF4-FFF2-40B4-BE49-F238E27FC236}">
                <a16:creationId xmlns:a16="http://schemas.microsoft.com/office/drawing/2014/main" id="{A6543C60-E891-4F04-B4D6-FC8FA5F725D7}"/>
              </a:ext>
            </a:extLst>
          </p:cNvPr>
          <p:cNvSpPr>
            <a:spLocks noGrp="1"/>
          </p:cNvSpPr>
          <p:nvPr/>
        </p:nvSpPr>
        <p:spPr>
          <a:xfrm>
            <a:off x="2435863" y="6200775"/>
            <a:ext cx="7320274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1">
                <a:solidFill>
                  <a:srgbClr val="A53F17"/>
                </a:solidFill>
                <a:latin typeface="Open Sans"/>
                <a:ea typeface="Open Sans"/>
                <a:cs typeface="Open Sans"/>
              </a:defRPr>
            </a:pPr>
            <a:r>
              <a:rPr sz="1575" b="1" dirty="0">
                <a:solidFill>
                  <a:srgbClr val="A53F17"/>
                </a:solidFill>
                <a:latin typeface="Open Sans"/>
                <a:ea typeface="Open Sans"/>
                <a:cs typeface="Open Sans"/>
              </a:rPr>
              <a:t>Integration hypothesis to test; no claim of a first-in-literature method.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137ACBB-797E-4132-97BA-76D5BC93CA34}"/>
              </a:ext>
            </a:extLst>
          </p:cNvPr>
          <p:cNvSpPr>
            <a:spLocks noGrp="1"/>
          </p:cNvSpPr>
          <p:nvPr/>
        </p:nvSpPr>
        <p:spPr>
          <a:xfrm>
            <a:off x="933450" y="4543425"/>
            <a:ext cx="50673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[1] Koziel &amp; Pietrenko-Dabrowska (2025). Accurate modeling of microwave structures in constrained domains… Scientific Reports 15, 43073.</a:t>
            </a:r>
          </a:p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  <a:hlinkClick r:id="rId3"/>
              </a:rPr>
              <a:t>DOI: 10.1038/s41598-025-27085-8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3A38CEF-E4A4-49C7-BFA1-7F66B01A15C6}"/>
              </a:ext>
            </a:extLst>
          </p:cNvPr>
          <p:cNvSpPr>
            <a:spLocks noGrp="1"/>
          </p:cNvSpPr>
          <p:nvPr/>
        </p:nvSpPr>
        <p:spPr>
          <a:xfrm>
            <a:off x="6191250" y="4543425"/>
            <a:ext cx="50673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[2] Feng et al. (2023). Feature and EM Sensitivity Co-Assisted Neuro-TF Surrogate Optimization for Microwave Filter Design. IEEE TMTT 71(11), 4749–4761.</a:t>
            </a:r>
          </a:p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  <a:hlinkClick r:id="rId4"/>
              </a:rPr>
              <a:t>DOI: 10.1109/TMTT.2023.3275232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E12C70D-AF43-413D-A6F2-267F40DC62DD}"/>
              </a:ext>
            </a:extLst>
          </p:cNvPr>
          <p:cNvSpPr>
            <a:spLocks noGrp="1"/>
          </p:cNvSpPr>
          <p:nvPr/>
        </p:nvSpPr>
        <p:spPr>
          <a:xfrm>
            <a:off x="933450" y="5410200"/>
            <a:ext cx="50673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[3] Fuhrländer &amp; Schöps (2020). A blackbox yield estimation workflow with Gaussian process regression… J. Math. Industry 10, 25.</a:t>
            </a:r>
          </a:p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  <a:hlinkClick r:id="rId5"/>
              </a:rPr>
              <a:t>DOI: 10.1186/s13362-020-00093-1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50DE7A3-0F65-4EE8-9833-2CA161AF5FA7}"/>
              </a:ext>
            </a:extLst>
          </p:cNvPr>
          <p:cNvSpPr>
            <a:spLocks noGrp="1"/>
          </p:cNvSpPr>
          <p:nvPr/>
        </p:nvSpPr>
        <p:spPr>
          <a:xfrm>
            <a:off x="6191250" y="5410200"/>
            <a:ext cx="50673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[4] Lu et al. (2021). Physics-Informed Neural Networks with Hard Constraints for Inverse Design. SIAM J. Sci. Comput. 43(6), B1105–B1132.</a:t>
            </a:r>
          </a:p>
          <a:p>
            <a:pPr>
              <a:defRPr sz="1238" b="0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sz="1238" b="0">
                <a:solidFill>
                  <a:srgbClr val="222222"/>
                </a:solidFill>
                <a:latin typeface="Open Sans"/>
                <a:ea typeface="Open Sans"/>
                <a:cs typeface="Open Sans"/>
                <a:hlinkClick r:id="rId6"/>
              </a:rPr>
              <a:t>DOI: 10.1137/21M1397908</a:t>
            </a:r>
          </a:p>
        </p:txBody>
      </p:sp>
    </p:spTree>
    <p:extLst>
      <p:ext uri="{BB962C8B-B14F-4D97-AF65-F5344CB8AC3E}">
        <p14:creationId xmlns:p14="http://schemas.microsoft.com/office/powerpoint/2010/main" val="3326653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D9B0-0DF2-0C26-C3B3-42FC0897C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7423"/>
            <a:ext cx="9144000" cy="703153"/>
          </a:xfrm>
        </p:spPr>
        <p:txBody>
          <a:bodyPr/>
          <a:lstStyle/>
          <a:p>
            <a:r>
              <a:rPr lang="it-IT" b="1" dirty="0"/>
              <a:t>THANK YOU!</a:t>
            </a:r>
            <a:endParaRPr lang="en-IT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450D2E-33D1-5C2C-1B31-48274441E950}"/>
              </a:ext>
            </a:extLst>
          </p:cNvPr>
          <p:cNvSpPr txBox="1">
            <a:spLocks/>
          </p:cNvSpPr>
          <p:nvPr/>
        </p:nvSpPr>
        <p:spPr>
          <a:xfrm>
            <a:off x="1524000" y="4452729"/>
            <a:ext cx="9144000" cy="703153"/>
          </a:xfrm>
          <a:prstGeom prst="rect">
            <a:avLst/>
          </a:prstGeom>
        </p:spPr>
        <p:txBody>
          <a:bodyPr vert="horz" wrap="square" lIns="95250" tIns="57150" rIns="95250" bIns="57150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stronomus"/>
                <a:ea typeface="Astronomus"/>
                <a:cs typeface="Astronomus"/>
              </a:defRPr>
            </a:lvl1pPr>
          </a:lstStyle>
          <a:p>
            <a:pPr>
              <a:spcAft>
                <a:spcPts val="1400"/>
              </a:spcAft>
              <a:defRPr sz="3150" b="1">
                <a:solidFill>
                  <a:srgbClr val="123A4B"/>
                </a:solidFill>
                <a:latin typeface="Open Sans"/>
                <a:ea typeface="Open Sans"/>
                <a:cs typeface="Open Sans"/>
              </a:defRPr>
            </a:pPr>
            <a:r>
              <a:rPr lang="it-IT" sz="3150" b="1">
                <a:solidFill>
                  <a:srgbClr val="123A4B"/>
                </a:solidFill>
                <a:latin typeface="Open Sans"/>
                <a:ea typeface="Open Sans"/>
                <a:cs typeface="Open Sans"/>
              </a:rPr>
              <a:t>Neuro-Symbolic RF Surrogates for EM Design</a:t>
            </a:r>
            <a:endParaRPr lang="it-IT" sz="3150" b="1" dirty="0">
              <a:solidFill>
                <a:srgbClr val="123A4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1A71A40-3F20-2E34-801D-3A2BE0282E97}"/>
              </a:ext>
            </a:extLst>
          </p:cNvPr>
          <p:cNvSpPr>
            <a:spLocks noGrp="1"/>
          </p:cNvSpPr>
          <p:nvPr/>
        </p:nvSpPr>
        <p:spPr>
          <a:xfrm>
            <a:off x="1524000" y="52959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025">
                <a:solidFill>
                  <a:srgbClr val="222222"/>
                </a:solidFill>
                <a:latin typeface="Open Sans"/>
                <a:ea typeface="Open Sans"/>
                <a:cs typeface="Open Sans"/>
              </a:defRPr>
            </a:pPr>
            <a:r>
              <a:rPr lang="en-US" sz="2025" b="1" dirty="0">
                <a:solidFill>
                  <a:srgbClr val="222222"/>
                </a:solidFill>
                <a:latin typeface="Open Sans"/>
                <a:ea typeface="Open Sans"/>
                <a:cs typeface="Open Sans"/>
              </a:rPr>
              <a:t>Sub-Topic 3 - Applications of AI to the modelling of EM problems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FC5323B-6684-2CA8-5FD5-9707445896FE}"/>
              </a:ext>
            </a:extLst>
          </p:cNvPr>
          <p:cNvSpPr>
            <a:spLocks noGrp="1"/>
          </p:cNvSpPr>
          <p:nvPr/>
        </p:nvSpPr>
        <p:spPr>
          <a:xfrm>
            <a:off x="1524000" y="58102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>
                <a:solidFill>
                  <a:srgbClr val="555555"/>
                </a:solidFill>
                <a:latin typeface="Open Sans"/>
                <a:ea typeface="Open Sans"/>
                <a:cs typeface="Open Sans"/>
              </a:defRPr>
            </a:pPr>
            <a:r>
              <a:rPr lang="en-US" sz="1425" b="1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Luca Pulga - Nicholas Magi</a:t>
            </a:r>
          </a:p>
          <a:p>
            <a:pPr algn="ctr">
              <a:defRPr sz="1425">
                <a:solidFill>
                  <a:srgbClr val="555555"/>
                </a:solidFill>
                <a:latin typeface="Open Sans"/>
                <a:ea typeface="Open Sans"/>
                <a:cs typeface="Open Sans"/>
              </a:defRPr>
            </a:pPr>
            <a:endParaRPr lang="it-IT" sz="1425" dirty="0">
              <a:solidFill>
                <a:srgbClr val="555555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2308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2166</Words>
  <Application>Microsoft Office PowerPoint</Application>
  <DocSecurity>0</DocSecurity>
  <PresentationFormat>Widescreen</PresentationFormat>
  <Paragraphs>103</Paragraphs>
  <Slides>8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Aptos</vt:lpstr>
      <vt:lpstr>Arial</vt:lpstr>
      <vt:lpstr>Astronomus</vt:lpstr>
      <vt:lpstr>Open Sans</vt:lpstr>
      <vt:lpstr>Office Theme</vt:lpstr>
      <vt:lpstr>Neuro-Symbolic RF Surrogates for EM Design</vt:lpstr>
      <vt:lpstr>Neuro-Symbolic RF Surrogates</vt:lpstr>
      <vt:lpstr>Neuro-Symbolic RF Surrogates</vt:lpstr>
      <vt:lpstr>Implementable Maxwell-informed model</vt:lpstr>
      <vt:lpstr>Proposed contribution: rule-guided sampling</vt:lpstr>
      <vt:lpstr>Data and validation</vt:lpstr>
      <vt:lpstr>State of the art and bibliography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 Pulga - luca.pulga@studio.unibo.it</cp:lastModifiedBy>
  <cp:revision>3</cp:revision>
  <dcterms:created xsi:type="dcterms:W3CDTF">2026-09-28T11:05:01Z</dcterms:created>
  <dcterms:modified xsi:type="dcterms:W3CDTF">2026-09-28T11:44:06Z</dcterms:modified>
</cp:coreProperties>
</file>